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8"/>
  </p:notesMasterIdLst>
  <p:sldIdLst>
    <p:sldId id="259" r:id="rId4"/>
    <p:sldId id="265" r:id="rId5"/>
    <p:sldId id="260" r:id="rId6"/>
    <p:sldId id="262" r:id="rId7"/>
    <p:sldId id="263" r:id="rId9"/>
    <p:sldId id="264" r:id="rId10"/>
    <p:sldId id="261" r:id="rId11"/>
    <p:sldId id="257" r:id="rId12"/>
    <p:sldId id="258" r:id="rId13"/>
    <p:sldId id="256" r:id="rId14"/>
    <p:sldId id="268" r:id="rId15"/>
    <p:sldId id="272" r:id="rId16"/>
    <p:sldId id="270" r:id="rId1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2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5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624" y="108"/>
      </p:cViewPr>
      <p:guideLst>
        <p:guide orient="horz" pos="122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959575-F8F4-4BF3-9B57-12013E1BF857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  <a:p>
            <a:pPr lvl="1"/>
            <a:r>
              <a:rPr kumimoji="1" lang="en-US" altLang="ja-JP"/>
              <a:t>Second level</a:t>
            </a:r>
            <a:endParaRPr kumimoji="1" lang="en-US" altLang="ja-JP"/>
          </a:p>
          <a:p>
            <a:pPr lvl="2"/>
            <a:r>
              <a:rPr kumimoji="1" lang="en-US" altLang="ja-JP"/>
              <a:t>Third level</a:t>
            </a:r>
            <a:endParaRPr kumimoji="1" lang="en-US" altLang="ja-JP"/>
          </a:p>
          <a:p>
            <a:pPr lvl="3"/>
            <a:r>
              <a:rPr kumimoji="1" lang="en-US" altLang="ja-JP"/>
              <a:t>Fourth level</a:t>
            </a:r>
            <a:endParaRPr kumimoji="1" lang="en-US" altLang="ja-JP"/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25129E-3C77-4430-9B22-F2D6B19928E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25129E-3C77-4430-9B22-F2D6B19928E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25129E-3C77-4430-9B22-F2D6B19928E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25129E-3C77-4430-9B22-F2D6B19928E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  <a:p>
            <a:pPr lvl="1"/>
            <a:r>
              <a:rPr kumimoji="1" lang="en-US" altLang="ja-JP"/>
              <a:t>Second level</a:t>
            </a:r>
            <a:endParaRPr kumimoji="1" lang="en-US" altLang="ja-JP"/>
          </a:p>
          <a:p>
            <a:pPr lvl="2"/>
            <a:r>
              <a:rPr kumimoji="1" lang="en-US" altLang="ja-JP"/>
              <a:t>Third level</a:t>
            </a:r>
            <a:endParaRPr kumimoji="1" lang="en-US" altLang="ja-JP"/>
          </a:p>
          <a:p>
            <a:pPr lvl="3"/>
            <a:r>
              <a:rPr kumimoji="1" lang="en-US" altLang="ja-JP"/>
              <a:t>Fourth level</a:t>
            </a:r>
            <a:endParaRPr kumimoji="1" lang="en-US" altLang="ja-JP"/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  <a:p>
            <a:pPr lvl="1"/>
            <a:r>
              <a:rPr kumimoji="1" lang="en-US" altLang="ja-JP"/>
              <a:t>Second level</a:t>
            </a:r>
            <a:endParaRPr kumimoji="1" lang="en-US" altLang="ja-JP"/>
          </a:p>
          <a:p>
            <a:pPr lvl="2"/>
            <a:r>
              <a:rPr kumimoji="1" lang="en-US" altLang="ja-JP"/>
              <a:t>Third level</a:t>
            </a:r>
            <a:endParaRPr kumimoji="1" lang="en-US" altLang="ja-JP"/>
          </a:p>
          <a:p>
            <a:pPr lvl="3"/>
            <a:r>
              <a:rPr kumimoji="1" lang="en-US" altLang="ja-JP"/>
              <a:t>Fourth level</a:t>
            </a:r>
            <a:endParaRPr kumimoji="1" lang="en-US" altLang="ja-JP"/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  <a:p>
            <a:pPr lvl="1"/>
            <a:r>
              <a:rPr kumimoji="1" lang="en-US" altLang="ja-JP"/>
              <a:t>Second level</a:t>
            </a:r>
            <a:endParaRPr kumimoji="1" lang="en-US" altLang="ja-JP"/>
          </a:p>
          <a:p>
            <a:pPr lvl="2"/>
            <a:r>
              <a:rPr kumimoji="1" lang="en-US" altLang="ja-JP"/>
              <a:t>Third level</a:t>
            </a:r>
            <a:endParaRPr kumimoji="1" lang="en-US" altLang="ja-JP"/>
          </a:p>
          <a:p>
            <a:pPr lvl="3"/>
            <a:r>
              <a:rPr kumimoji="1" lang="en-US" altLang="ja-JP"/>
              <a:t>Fourth level</a:t>
            </a:r>
            <a:endParaRPr kumimoji="1" lang="en-US" altLang="ja-JP"/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  <a:p>
            <a:pPr lvl="1"/>
            <a:r>
              <a:rPr kumimoji="1" lang="en-US" altLang="ja-JP"/>
              <a:t>Second level</a:t>
            </a:r>
            <a:endParaRPr kumimoji="1" lang="en-US" altLang="ja-JP"/>
          </a:p>
          <a:p>
            <a:pPr lvl="2"/>
            <a:r>
              <a:rPr kumimoji="1" lang="en-US" altLang="ja-JP"/>
              <a:t>Third level</a:t>
            </a:r>
            <a:endParaRPr kumimoji="1" lang="en-US" altLang="ja-JP"/>
          </a:p>
          <a:p>
            <a:pPr lvl="3"/>
            <a:r>
              <a:rPr kumimoji="1" lang="en-US" altLang="ja-JP"/>
              <a:t>Fourth level</a:t>
            </a:r>
            <a:endParaRPr kumimoji="1" lang="en-US" altLang="ja-JP"/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  <a:p>
            <a:pPr lvl="1"/>
            <a:r>
              <a:rPr kumimoji="1" lang="en-US" altLang="ja-JP"/>
              <a:t>Second level</a:t>
            </a:r>
            <a:endParaRPr kumimoji="1" lang="en-US" altLang="ja-JP"/>
          </a:p>
          <a:p>
            <a:pPr lvl="2"/>
            <a:r>
              <a:rPr kumimoji="1" lang="en-US" altLang="ja-JP"/>
              <a:t>Third level</a:t>
            </a:r>
            <a:endParaRPr kumimoji="1" lang="en-US" altLang="ja-JP"/>
          </a:p>
          <a:p>
            <a:pPr lvl="3"/>
            <a:r>
              <a:rPr kumimoji="1" lang="en-US" altLang="ja-JP"/>
              <a:t>Fourth level</a:t>
            </a:r>
            <a:endParaRPr kumimoji="1" lang="en-US" altLang="ja-JP"/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  <a:p>
            <a:pPr lvl="1"/>
            <a:r>
              <a:rPr kumimoji="1" lang="en-US" altLang="ja-JP"/>
              <a:t>Second level</a:t>
            </a:r>
            <a:endParaRPr kumimoji="1" lang="en-US" altLang="ja-JP"/>
          </a:p>
          <a:p>
            <a:pPr lvl="2"/>
            <a:r>
              <a:rPr kumimoji="1" lang="en-US" altLang="ja-JP"/>
              <a:t>Third level</a:t>
            </a:r>
            <a:endParaRPr kumimoji="1" lang="en-US" altLang="ja-JP"/>
          </a:p>
          <a:p>
            <a:pPr lvl="3"/>
            <a:r>
              <a:rPr kumimoji="1" lang="en-US" altLang="ja-JP"/>
              <a:t>Fourth level</a:t>
            </a:r>
            <a:endParaRPr kumimoji="1" lang="en-US" altLang="ja-JP"/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  <a:p>
            <a:pPr lvl="1"/>
            <a:r>
              <a:rPr kumimoji="1" lang="en-US" altLang="ja-JP"/>
              <a:t>Second level</a:t>
            </a:r>
            <a:endParaRPr kumimoji="1" lang="en-US" altLang="ja-JP"/>
          </a:p>
          <a:p>
            <a:pPr lvl="2"/>
            <a:r>
              <a:rPr kumimoji="1" lang="en-US" altLang="ja-JP"/>
              <a:t>Third level</a:t>
            </a:r>
            <a:endParaRPr kumimoji="1" lang="en-US" altLang="ja-JP"/>
          </a:p>
          <a:p>
            <a:pPr lvl="3"/>
            <a:r>
              <a:rPr kumimoji="1" lang="en-US" altLang="ja-JP"/>
              <a:t>Fourth level</a:t>
            </a:r>
            <a:endParaRPr kumimoji="1" lang="en-US" altLang="ja-JP"/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  <a:p>
            <a:pPr lvl="1"/>
            <a:r>
              <a:rPr kumimoji="1" lang="en-US" altLang="ja-JP"/>
              <a:t>Second level</a:t>
            </a:r>
            <a:endParaRPr kumimoji="1" lang="en-US" altLang="ja-JP"/>
          </a:p>
          <a:p>
            <a:pPr lvl="2"/>
            <a:r>
              <a:rPr kumimoji="1" lang="en-US" altLang="ja-JP"/>
              <a:t>Third level</a:t>
            </a:r>
            <a:endParaRPr kumimoji="1" lang="en-US" altLang="ja-JP"/>
          </a:p>
          <a:p>
            <a:pPr lvl="3"/>
            <a:r>
              <a:rPr kumimoji="1" lang="en-US" altLang="ja-JP"/>
              <a:t>Fourth level</a:t>
            </a:r>
            <a:endParaRPr kumimoji="1" lang="en-US" altLang="ja-JP"/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  <a:p>
            <a:pPr lvl="1"/>
            <a:r>
              <a:rPr kumimoji="1" lang="en-US" altLang="ja-JP"/>
              <a:t>Second level</a:t>
            </a:r>
            <a:endParaRPr kumimoji="1" lang="en-US" altLang="ja-JP"/>
          </a:p>
          <a:p>
            <a:pPr lvl="2"/>
            <a:r>
              <a:rPr kumimoji="1" lang="en-US" altLang="ja-JP"/>
              <a:t>Third level</a:t>
            </a:r>
            <a:endParaRPr kumimoji="1" lang="en-US" altLang="ja-JP"/>
          </a:p>
          <a:p>
            <a:pPr lvl="3"/>
            <a:r>
              <a:rPr kumimoji="1" lang="en-US" altLang="ja-JP"/>
              <a:t>Fourth level</a:t>
            </a:r>
            <a:endParaRPr kumimoji="1" lang="en-US" altLang="ja-JP"/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  <a:p>
            <a:pPr lvl="1"/>
            <a:r>
              <a:rPr kumimoji="1" lang="en-US" altLang="ja-JP"/>
              <a:t>Second level</a:t>
            </a:r>
            <a:endParaRPr kumimoji="1" lang="en-US" altLang="ja-JP"/>
          </a:p>
          <a:p>
            <a:pPr lvl="2"/>
            <a:r>
              <a:rPr kumimoji="1" lang="en-US" altLang="ja-JP"/>
              <a:t>Third level</a:t>
            </a:r>
            <a:endParaRPr kumimoji="1" lang="en-US" altLang="ja-JP"/>
          </a:p>
          <a:p>
            <a:pPr lvl="3"/>
            <a:r>
              <a:rPr kumimoji="1" lang="en-US" altLang="ja-JP"/>
              <a:t>Fourth level</a:t>
            </a:r>
            <a:endParaRPr kumimoji="1" lang="en-US" altLang="ja-JP"/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  <a:p>
            <a:pPr lvl="1"/>
            <a:r>
              <a:rPr kumimoji="1" lang="en-US" altLang="ja-JP"/>
              <a:t>Second level</a:t>
            </a:r>
            <a:endParaRPr kumimoji="1" lang="en-US" altLang="ja-JP"/>
          </a:p>
          <a:p>
            <a:pPr lvl="2"/>
            <a:r>
              <a:rPr kumimoji="1" lang="en-US" altLang="ja-JP"/>
              <a:t>Third level</a:t>
            </a:r>
            <a:endParaRPr kumimoji="1" lang="en-US" altLang="ja-JP"/>
          </a:p>
          <a:p>
            <a:pPr lvl="3"/>
            <a:r>
              <a:rPr kumimoji="1" lang="en-US" altLang="ja-JP"/>
              <a:t>Fourth level</a:t>
            </a:r>
            <a:endParaRPr kumimoji="1" lang="en-US" altLang="ja-JP"/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  <a:p>
            <a:pPr lvl="1"/>
            <a:r>
              <a:rPr kumimoji="1" lang="en-US" altLang="ja-JP"/>
              <a:t>Second level</a:t>
            </a:r>
            <a:endParaRPr kumimoji="1" lang="en-US" altLang="ja-JP"/>
          </a:p>
          <a:p>
            <a:pPr lvl="2"/>
            <a:r>
              <a:rPr kumimoji="1" lang="en-US" altLang="ja-JP"/>
              <a:t>Third level</a:t>
            </a:r>
            <a:endParaRPr kumimoji="1" lang="en-US" altLang="ja-JP"/>
          </a:p>
          <a:p>
            <a:pPr lvl="3"/>
            <a:r>
              <a:rPr kumimoji="1" lang="en-US" altLang="ja-JP"/>
              <a:t>Fourth level</a:t>
            </a:r>
            <a:endParaRPr kumimoji="1" lang="en-US" altLang="ja-JP"/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  <a:p>
            <a:pPr lvl="1"/>
            <a:r>
              <a:rPr kumimoji="1" lang="en-US" altLang="ja-JP"/>
              <a:t>Second level</a:t>
            </a:r>
            <a:endParaRPr kumimoji="1" lang="en-US" altLang="ja-JP"/>
          </a:p>
          <a:p>
            <a:pPr lvl="2"/>
            <a:r>
              <a:rPr kumimoji="1" lang="en-US" altLang="ja-JP"/>
              <a:t>Third level</a:t>
            </a:r>
            <a:endParaRPr kumimoji="1" lang="en-US" altLang="ja-JP"/>
          </a:p>
          <a:p>
            <a:pPr lvl="3"/>
            <a:r>
              <a:rPr kumimoji="1" lang="en-US" altLang="ja-JP"/>
              <a:t>Fourth level</a:t>
            </a:r>
            <a:endParaRPr kumimoji="1" lang="en-US" altLang="ja-JP"/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  <a:p>
            <a:pPr lvl="1"/>
            <a:r>
              <a:rPr kumimoji="1" lang="en-US" altLang="ja-JP"/>
              <a:t>Second level</a:t>
            </a:r>
            <a:endParaRPr kumimoji="1" lang="en-US" altLang="ja-JP"/>
          </a:p>
          <a:p>
            <a:pPr lvl="2"/>
            <a:r>
              <a:rPr kumimoji="1" lang="en-US" altLang="ja-JP"/>
              <a:t>Third level</a:t>
            </a:r>
            <a:endParaRPr kumimoji="1" lang="en-US" altLang="ja-JP"/>
          </a:p>
          <a:p>
            <a:pPr lvl="3"/>
            <a:r>
              <a:rPr kumimoji="1" lang="en-US" altLang="ja-JP"/>
              <a:t>Fourth level</a:t>
            </a:r>
            <a:endParaRPr kumimoji="1" lang="en-US" altLang="ja-JP"/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  <a:p>
            <a:pPr lvl="1"/>
            <a:r>
              <a:rPr kumimoji="1" lang="en-US" altLang="ja-JP"/>
              <a:t>Second level</a:t>
            </a:r>
            <a:endParaRPr kumimoji="1" lang="en-US" altLang="ja-JP"/>
          </a:p>
          <a:p>
            <a:pPr lvl="2"/>
            <a:r>
              <a:rPr kumimoji="1" lang="en-US" altLang="ja-JP"/>
              <a:t>Third level</a:t>
            </a:r>
            <a:endParaRPr kumimoji="1" lang="en-US" altLang="ja-JP"/>
          </a:p>
          <a:p>
            <a:pPr lvl="3"/>
            <a:r>
              <a:rPr kumimoji="1" lang="en-US" altLang="ja-JP"/>
              <a:t>Fourth level</a:t>
            </a:r>
            <a:endParaRPr kumimoji="1" lang="en-US" altLang="ja-JP"/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  <a:p>
            <a:pPr lvl="1"/>
            <a:r>
              <a:rPr kumimoji="1" lang="en-US" altLang="ja-JP"/>
              <a:t>Second level</a:t>
            </a:r>
            <a:endParaRPr kumimoji="1" lang="en-US" altLang="ja-JP"/>
          </a:p>
          <a:p>
            <a:pPr lvl="2"/>
            <a:r>
              <a:rPr kumimoji="1" lang="en-US" altLang="ja-JP"/>
              <a:t>Third level</a:t>
            </a:r>
            <a:endParaRPr kumimoji="1" lang="en-US" altLang="ja-JP"/>
          </a:p>
          <a:p>
            <a:pPr lvl="3"/>
            <a:r>
              <a:rPr kumimoji="1" lang="en-US" altLang="ja-JP"/>
              <a:t>Fourth level</a:t>
            </a:r>
            <a:endParaRPr kumimoji="1" lang="en-US" altLang="ja-JP"/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  <a:p>
            <a:pPr lvl="1"/>
            <a:r>
              <a:rPr kumimoji="1" lang="en-US" altLang="ja-JP"/>
              <a:t>Second level</a:t>
            </a:r>
            <a:endParaRPr kumimoji="1" lang="en-US" altLang="ja-JP"/>
          </a:p>
          <a:p>
            <a:pPr lvl="2"/>
            <a:r>
              <a:rPr kumimoji="1" lang="en-US" altLang="ja-JP"/>
              <a:t>Third level</a:t>
            </a:r>
            <a:endParaRPr kumimoji="1" lang="en-US" altLang="ja-JP"/>
          </a:p>
          <a:p>
            <a:pPr lvl="3"/>
            <a:r>
              <a:rPr kumimoji="1" lang="en-US" altLang="ja-JP"/>
              <a:t>Fourth level</a:t>
            </a:r>
            <a:endParaRPr kumimoji="1" lang="en-US" altLang="ja-JP"/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  <a:endParaRPr kumimoji="1" lang="en-US" altLang="ja-JP"/>
          </a:p>
          <a:p>
            <a:pPr lvl="1"/>
            <a:r>
              <a:rPr kumimoji="1" lang="en-US" altLang="ja-JP"/>
              <a:t>Second level</a:t>
            </a:r>
            <a:endParaRPr kumimoji="1" lang="en-US" altLang="ja-JP"/>
          </a:p>
          <a:p>
            <a:pPr lvl="2"/>
            <a:r>
              <a:rPr kumimoji="1" lang="en-US" altLang="ja-JP"/>
              <a:t>Third level</a:t>
            </a:r>
            <a:endParaRPr kumimoji="1" lang="en-US" altLang="ja-JP"/>
          </a:p>
          <a:p>
            <a:pPr lvl="3"/>
            <a:r>
              <a:rPr kumimoji="1" lang="en-US" altLang="ja-JP"/>
              <a:t>Fourth level</a:t>
            </a:r>
            <a:endParaRPr kumimoji="1" lang="en-US" altLang="ja-JP"/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545288-4E63-4A9A-9FF7-11823647D6C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167D3B-9FB3-4BD5-BAC9-DA5EEE51539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hyperlink" Target="https://www.youtube.com/watch?v=T3OT8kqoqjc&amp;ab_channel=BrainDrain" TargetMode="External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hyperlink" Target="https://medium.com/data-science/all-you-need-to-know-about-attention-and-transformers-in-depth-understanding-part-1-552f0b41d021" TargetMode="Externa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hyperlink" Target="https://github.com/SamLynnEvans/Transformer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hyperlink" Target="https://spacy.io/usage/models" TargetMode="External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4.png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/>
          <p:cNvSpPr txBox="1"/>
          <p:nvPr/>
        </p:nvSpPr>
        <p:spPr>
          <a:xfrm>
            <a:off x="0" y="6581001"/>
            <a:ext cx="48291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100" dirty="0"/>
              <a:t>Refs: </a:t>
            </a:r>
            <a:r>
              <a:rPr lang="ja-JP" altLang="en-US" sz="1100" dirty="0"/>
              <a:t>https://huggingface.co/learn/llm-course/en/chapter1/4</a:t>
            </a:r>
            <a:endParaRPr lang="ja-JP" altLang="en-US" sz="1100" dirty="0"/>
          </a:p>
        </p:txBody>
      </p:sp>
      <p:sp>
        <p:nvSpPr>
          <p:cNvPr id="29" name="TextBox 28"/>
          <p:cNvSpPr txBox="1"/>
          <p:nvPr/>
        </p:nvSpPr>
        <p:spPr>
          <a:xfrm>
            <a:off x="0" y="0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1. Architecture</a:t>
            </a:r>
            <a:endParaRPr kumimoji="1" lang="ja-JP" altLang="en-US" sz="2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217810"/>
            <a:ext cx="2581275" cy="39444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3700" y="1217810"/>
            <a:ext cx="90297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ja-JP" sz="16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Encoder (left): </a:t>
            </a:r>
            <a:r>
              <a:rPr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The encoder receives an input and builds a representation of it (its features). This means that the model is </a:t>
            </a:r>
            <a:r>
              <a:rPr lang="en-US" altLang="ja-JP" sz="1600" b="1" dirty="0">
                <a:solidFill>
                  <a:srgbClr val="FF0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optimized to acquire understanding from the input</a:t>
            </a:r>
            <a:r>
              <a:rPr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.</a:t>
            </a:r>
            <a:endParaRPr lang="en-US" altLang="ja-JP" sz="16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ja-JP" sz="16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ja-JP" sz="16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Decoder (right): </a:t>
            </a:r>
            <a:r>
              <a:rPr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The decoder uses the encoder’s representation (features) along with other inputs to generate a target sequence. This means that the model is </a:t>
            </a:r>
            <a:r>
              <a:rPr lang="en-US" altLang="ja-JP" sz="1600" b="1" dirty="0">
                <a:solidFill>
                  <a:srgbClr val="FF0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optimized for generating outputs</a:t>
            </a:r>
            <a:r>
              <a:rPr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.</a:t>
            </a:r>
            <a:endParaRPr lang="ja-JP" alt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5" name="Picture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192" y="4131701"/>
            <a:ext cx="5248708" cy="161003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3095192" y="3020743"/>
            <a:ext cx="321035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["i", "like", "books"]</a:t>
            </a:r>
            <a:endParaRPr lang="ja-JP" alt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095191" y="3517006"/>
            <a:ext cx="328655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["&lt;sos&gt;", "i", "like", "books"]</a:t>
            </a:r>
            <a:endParaRPr lang="ja-JP" alt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1" name="Arrow: Right 40"/>
          <p:cNvSpPr/>
          <p:nvPr/>
        </p:nvSpPr>
        <p:spPr>
          <a:xfrm>
            <a:off x="5724524" y="3130226"/>
            <a:ext cx="390092" cy="1195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Arrow: Right 41"/>
          <p:cNvSpPr/>
          <p:nvPr/>
        </p:nvSpPr>
        <p:spPr>
          <a:xfrm>
            <a:off x="5724524" y="3643944"/>
            <a:ext cx="390092" cy="1195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6232131" y="3012235"/>
            <a:ext cx="33863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Decoder target (what it should predict)</a:t>
            </a:r>
            <a:endParaRPr kumimoji="1" lang="ja-JP" alt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232131" y="3552903"/>
            <a:ext cx="13624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Decoder input</a:t>
            </a:r>
            <a:endParaRPr kumimoji="1" lang="ja-JP" alt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38175" y="5179835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ENG</a:t>
            </a:r>
            <a:endParaRPr kumimoji="1" lang="ja-JP" altLang="en-US" sz="1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15732" y="5184240"/>
            <a:ext cx="4740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KOR</a:t>
            </a:r>
            <a:endParaRPr kumimoji="1" lang="ja-JP" altLang="en-US" sz="1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915732" y="936967"/>
            <a:ext cx="4740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KOR</a:t>
            </a:r>
            <a:endParaRPr kumimoji="1" lang="ja-JP" altLang="en-US" sz="1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8085678" y="171450"/>
            <a:ext cx="4121737" cy="2409825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0" y="0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1. Architecture: </a:t>
            </a:r>
            <a:r>
              <a:rPr kumimoji="1" lang="en-US" altLang="ja-JP" sz="2400" b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Positional Encoding</a:t>
            </a:r>
            <a:endParaRPr kumimoji="1" lang="ja-JP" altLang="en-US" sz="2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0488" y="648771"/>
            <a:ext cx="119681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Transformers </a:t>
            </a:r>
            <a:r>
              <a:rPr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process all tokens in parallel 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 must </a:t>
            </a:r>
            <a:r>
              <a:rPr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inject information about token 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positions into the model.</a:t>
            </a:r>
            <a:endParaRPr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A </a:t>
            </a:r>
            <a:r>
              <a:rPr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sinusoidal positional encoding vector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 is created for each token</a:t>
            </a:r>
            <a:endParaRPr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  <a:sym typeface="Wingdings" panose="05000000000000000000" pitchFamily="2" charset="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95263" y="6568499"/>
            <a:ext cx="5857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hlinkClick r:id="rId1"/>
              </a:rPr>
              <a:t>Refs</a:t>
            </a:r>
            <a:endParaRPr lang="ja-JP" alt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48" y="2129720"/>
            <a:ext cx="8235177" cy="4443634"/>
          </a:xfrm>
          <a:prstGeom prst="rect">
            <a:avLst/>
          </a:prstGeom>
        </p:spPr>
      </p:pic>
      <p:sp>
        <p:nvSpPr>
          <p:cNvPr id="8" name="Arrow: Down 7"/>
          <p:cNvSpPr/>
          <p:nvPr/>
        </p:nvSpPr>
        <p:spPr>
          <a:xfrm rot="3841911">
            <a:off x="8532357" y="4405383"/>
            <a:ext cx="160344" cy="64591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801100" y="4276725"/>
            <a:ext cx="2402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How many words per sentence</a:t>
            </a:r>
            <a:endParaRPr kumimoji="1" lang="ja-JP" alt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0" name="Arrow: Down 9"/>
          <p:cNvSpPr/>
          <p:nvPr/>
        </p:nvSpPr>
        <p:spPr>
          <a:xfrm rot="3841911">
            <a:off x="8100195" y="5494822"/>
            <a:ext cx="160344" cy="64591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05825" y="5568879"/>
            <a:ext cx="22445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Embedding space dimension</a:t>
            </a:r>
            <a:endParaRPr kumimoji="1" lang="ja-JP" alt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2787" y="2219325"/>
            <a:ext cx="539966" cy="394850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358970" y="1397410"/>
            <a:ext cx="33995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Each encoded vector is unique in a sequence</a:t>
            </a:r>
            <a:endParaRPr kumimoji="1" lang="ja-JP" alt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7" name="Arrow: Down 16"/>
          <p:cNvSpPr/>
          <p:nvPr/>
        </p:nvSpPr>
        <p:spPr>
          <a:xfrm rot="1796218">
            <a:off x="2147847" y="1593443"/>
            <a:ext cx="160344" cy="64591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2450" y="707013"/>
            <a:ext cx="4019550" cy="120996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246045" y="620495"/>
            <a:ext cx="10086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b="1" dirty="0">
                <a:solidFill>
                  <a:srgbClr val="FF0000"/>
                </a:solidFill>
              </a:rPr>
              <a:t>t (position)</a:t>
            </a:r>
            <a:endParaRPr kumimoji="1" lang="ja-JP" altLang="en-US" sz="1200" b="1" dirty="0">
              <a:solidFill>
                <a:srgbClr val="FF0000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505090" y="832761"/>
            <a:ext cx="1499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b="1" dirty="0">
                <a:solidFill>
                  <a:srgbClr val="FF0000"/>
                </a:solidFill>
              </a:rPr>
              <a:t>embedding space</a:t>
            </a:r>
            <a:endParaRPr kumimoji="1" lang="ja-JP" altLang="en-US" sz="1200" b="1" dirty="0">
              <a:solidFill>
                <a:srgbClr val="FF0000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581210" y="2025789"/>
            <a:ext cx="36107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/>
              <a:t>https://github.com/SamLynnEvans/Transformer/blob/master/Embed.py</a:t>
            </a:r>
            <a:endParaRPr lang="ja-JP" altLang="en-US" sz="1200" dirty="0"/>
          </a:p>
        </p:txBody>
      </p:sp>
      <p:sp>
        <p:nvSpPr>
          <p:cNvPr id="25" name="TextBox 24"/>
          <p:cNvSpPr txBox="1"/>
          <p:nvPr/>
        </p:nvSpPr>
        <p:spPr>
          <a:xfrm>
            <a:off x="8108224" y="220746"/>
            <a:ext cx="15632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b="1" dirty="0">
                <a:solidFill>
                  <a:schemeClr val="tx2"/>
                </a:solidFill>
              </a:rPr>
              <a:t>Implementation</a:t>
            </a:r>
            <a:endParaRPr kumimoji="1" lang="ja-JP" altLang="en-US" sz="1400" b="1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e Transformer Model - MachineLearningMastery.com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2225" y="13004"/>
            <a:ext cx="2819434" cy="3972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/>
          <p:cNvSpPr txBox="1"/>
          <p:nvPr/>
        </p:nvSpPr>
        <p:spPr>
          <a:xfrm>
            <a:off x="0" y="0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1. Architecture: Attention Layer</a:t>
            </a:r>
            <a:endParaRPr kumimoji="1" lang="ja-JP" altLang="en-US" sz="2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52413" y="471398"/>
            <a:ext cx="470058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E.g. Consider two sentences:</a:t>
            </a:r>
            <a:endParaRPr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The </a:t>
            </a:r>
            <a:r>
              <a:rPr lang="en-US" altLang="ja-JP" sz="1400" b="1" dirty="0">
                <a:solidFill>
                  <a:srgbClr val="FF0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cat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drank the milk because </a:t>
            </a:r>
            <a:r>
              <a:rPr lang="en-US" altLang="ja-JP" sz="1400" b="1" dirty="0">
                <a:solidFill>
                  <a:srgbClr val="FF0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it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was hungry.</a:t>
            </a:r>
            <a:endParaRPr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The cat drank the </a:t>
            </a:r>
            <a:r>
              <a:rPr lang="en-US" altLang="ja-JP" sz="1400" b="1" dirty="0">
                <a:solidFill>
                  <a:schemeClr val="accent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milk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because </a:t>
            </a:r>
            <a:r>
              <a:rPr lang="en-US" altLang="ja-JP" sz="1400" b="1" dirty="0">
                <a:solidFill>
                  <a:schemeClr val="accent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it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was sweet.</a:t>
            </a:r>
            <a:endParaRPr lang="ja-JP" alt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448173" y="1696484"/>
            <a:ext cx="454342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(1) Idea:</a:t>
            </a:r>
            <a:r>
              <a:rPr lang="ja-JP" altLang="en-US" sz="14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Add</a:t>
            </a:r>
            <a:r>
              <a:rPr lang="ja-JP" altLang="en-U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some</a:t>
            </a:r>
            <a:r>
              <a:rPr lang="ja-JP" altLang="en-U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weights (W) to the initial word embeddings (V embeddings)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 relevance between words (Y embeddings)</a:t>
            </a:r>
            <a:endParaRPr kumimoji="1"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976" y="1696484"/>
            <a:ext cx="3733800" cy="2176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466729" y="1401308"/>
            <a:ext cx="5521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hlinkClick r:id="rId3"/>
              </a:rPr>
              <a:t>Refs</a:t>
            </a:r>
            <a:endParaRPr lang="ja-JP" alt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4"/>
          <a:srcRect t="16034"/>
          <a:stretch>
            <a:fillRect/>
          </a:stretch>
        </p:blipFill>
        <p:spPr>
          <a:xfrm>
            <a:off x="561977" y="4023691"/>
            <a:ext cx="3733799" cy="98905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448173" y="2639553"/>
            <a:ext cx="544830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(2) Finding the weights:</a:t>
            </a:r>
            <a:endParaRPr kumimoji="1" lang="en-US" altLang="ja-JP" sz="1400" b="1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</a:t>
            </a:r>
            <a:r>
              <a:rPr kumimoji="1" lang="en-US" altLang="ja-JP" sz="1400" baseline="-25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11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 W</a:t>
            </a:r>
            <a:r>
              <a:rPr kumimoji="1" lang="en-US" altLang="ja-JP" sz="1400" baseline="-25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19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 relationships of other words to the 1</a:t>
            </a:r>
            <a:r>
              <a:rPr kumimoji="1" lang="en-US" altLang="ja-JP" sz="140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st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 token</a:t>
            </a:r>
            <a:endParaRPr kumimoji="1"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  <a:sym typeface="Wingdings" panose="05000000000000000000" pitchFamily="2" charset="2"/>
            </a:endParaRPr>
          </a:p>
          <a:p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Repeat the calculat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ion for other words (W</a:t>
            </a:r>
            <a:r>
              <a:rPr lang="en-US" altLang="ja-JP" sz="1400" baseline="-25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21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  W</a:t>
            </a:r>
            <a:r>
              <a:rPr lang="en-US" altLang="ja-JP" sz="1400" baseline="-25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29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, W</a:t>
            </a:r>
            <a:r>
              <a:rPr lang="en-US" altLang="ja-JP" sz="1400" baseline="-25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31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  W</a:t>
            </a:r>
            <a:r>
              <a:rPr lang="en-US" altLang="ja-JP" sz="1400" baseline="-25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39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, etc.)</a:t>
            </a:r>
            <a:endParaRPr kumimoji="1"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5"/>
          <a:srcRect l="6918" r="15445"/>
          <a:stretch>
            <a:fillRect/>
          </a:stretch>
        </p:blipFill>
        <p:spPr>
          <a:xfrm>
            <a:off x="4471987" y="3328330"/>
            <a:ext cx="962025" cy="144323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59840" y="3384170"/>
            <a:ext cx="376989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If two vectors point in </a:t>
            </a:r>
            <a:endParaRPr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ja-JP" sz="1400" i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Roughly the same direction </a:t>
            </a:r>
            <a:r>
              <a:rPr lang="en-US" altLang="ja-JP" sz="1400" i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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their </a:t>
            </a:r>
            <a:r>
              <a:rPr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dot product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will be </a:t>
            </a:r>
            <a:r>
              <a:rPr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large and (+)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. </a:t>
            </a:r>
            <a:endParaRPr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Orthogonal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the dot product is </a:t>
            </a:r>
            <a:r>
              <a:rPr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zero.</a:t>
            </a:r>
            <a:endParaRPr lang="en-US" altLang="ja-JP" sz="1400" b="1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Opposite directions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the result is </a:t>
            </a:r>
            <a:r>
              <a:rPr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(-).</a:t>
            </a:r>
            <a:endParaRPr kumimoji="1" lang="ja-JP" altLang="en-US" sz="1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31" name="Connector: Curved 30"/>
          <p:cNvCxnSpPr>
            <a:stCxn id="19" idx="2"/>
          </p:cNvCxnSpPr>
          <p:nvPr/>
        </p:nvCxnSpPr>
        <p:spPr>
          <a:xfrm rot="16200000" flipH="1">
            <a:off x="5062309" y="4662258"/>
            <a:ext cx="467183" cy="68580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619748" y="4933375"/>
            <a:ext cx="6457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Project </a:t>
            </a:r>
            <a:r>
              <a:rPr kumimoji="1"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onto </a:t>
            </a:r>
            <a:r>
              <a:rPr kumimoji="1"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 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(the projected vector is called </a:t>
            </a:r>
            <a:r>
              <a:rPr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</a:t>
            </a:r>
            <a:r>
              <a:rPr kumimoji="1"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’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), dot product of </a:t>
            </a:r>
            <a:r>
              <a:rPr kumimoji="1"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* </a:t>
            </a:r>
            <a:r>
              <a:rPr kumimoji="1"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= |</a:t>
            </a:r>
            <a:r>
              <a:rPr kumimoji="1"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A’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| * |</a:t>
            </a:r>
            <a:r>
              <a:rPr kumimoji="1"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|</a:t>
            </a:r>
            <a:endParaRPr kumimoji="1"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Where |</a:t>
            </a:r>
            <a:r>
              <a:rPr kumimoji="1"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A’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| = |</a:t>
            </a:r>
            <a:r>
              <a:rPr kumimoji="1" lang="en-US" altLang="ja-JP" sz="1400" b="1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</a:t>
            </a:r>
            <a:r>
              <a:rPr kumimoji="1" lang="en-US" altLang="ja-JP" sz="14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|cos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kumimoji="1" lang="el-GR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θ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) </a:t>
            </a:r>
            <a:endParaRPr kumimoji="1" lang="ja-JP" alt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4" name="Picture 33"/>
          <p:cNvPicPr>
            <a:picLocks noChangeAspect="1"/>
          </p:cNvPicPr>
          <p:nvPr/>
        </p:nvPicPr>
        <p:blipFill>
          <a:blip r:embed="rId6"/>
          <a:srcRect t="14568"/>
          <a:stretch>
            <a:fillRect/>
          </a:stretch>
        </p:blipFill>
        <p:spPr>
          <a:xfrm>
            <a:off x="552130" y="5205901"/>
            <a:ext cx="3715068" cy="117792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471987" y="5570236"/>
            <a:ext cx="6143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(3) New embeddings w/ context</a:t>
            </a:r>
            <a:endParaRPr kumimoji="1"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0" y="1629966"/>
            <a:ext cx="442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18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(1) </a:t>
            </a:r>
            <a:endParaRPr lang="ja-JP" altLang="en-US" dirty="0"/>
          </a:p>
        </p:txBody>
      </p:sp>
      <p:sp>
        <p:nvSpPr>
          <p:cNvPr id="39" name="TextBox 38"/>
          <p:cNvSpPr txBox="1"/>
          <p:nvPr/>
        </p:nvSpPr>
        <p:spPr>
          <a:xfrm>
            <a:off x="23817" y="4023691"/>
            <a:ext cx="442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18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US" altLang="ja-JP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kumimoji="1" lang="en-US" altLang="ja-JP" sz="18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) </a:t>
            </a:r>
            <a:endParaRPr lang="ja-JP" altLang="en-US" dirty="0"/>
          </a:p>
        </p:txBody>
      </p:sp>
      <p:sp>
        <p:nvSpPr>
          <p:cNvPr id="40" name="TextBox 39"/>
          <p:cNvSpPr txBox="1"/>
          <p:nvPr/>
        </p:nvSpPr>
        <p:spPr>
          <a:xfrm>
            <a:off x="23817" y="5235083"/>
            <a:ext cx="442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18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(3) </a:t>
            </a:r>
            <a:endParaRPr lang="ja-JP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28"/>
          <p:cNvSpPr txBox="1"/>
          <p:nvPr/>
        </p:nvSpPr>
        <p:spPr>
          <a:xfrm>
            <a:off x="0" y="0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1. Architecture: Attention Layer</a:t>
            </a:r>
            <a:endParaRPr kumimoji="1" lang="ja-JP" altLang="en-US" sz="2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3524" y="1434876"/>
            <a:ext cx="3309505" cy="3120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3686186" y="689512"/>
            <a:ext cx="4290021" cy="33855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16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QUERY </a:t>
            </a:r>
            <a:r>
              <a:rPr kumimoji="1"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v</a:t>
            </a:r>
            <a:r>
              <a:rPr kumimoji="1" lang="en-US" altLang="ja-JP" sz="1600" baseline="-25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kumimoji="1"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other words (</a:t>
            </a:r>
            <a:r>
              <a:rPr kumimoji="1" lang="en-US" altLang="ja-JP" sz="16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KEY</a:t>
            </a:r>
            <a:r>
              <a:rPr kumimoji="1"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) </a:t>
            </a:r>
            <a:r>
              <a:rPr kumimoji="1"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 results in </a:t>
            </a:r>
            <a:r>
              <a:rPr kumimoji="1" lang="en-US" altLang="ja-JP" sz="16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VALUE</a:t>
            </a:r>
            <a:endParaRPr kumimoji="1" lang="ja-JP" altLang="en-US" sz="16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9366" y="1240750"/>
            <a:ext cx="3662797" cy="3610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4952547" y="1738523"/>
            <a:ext cx="17939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Adding M</a:t>
            </a:r>
            <a:r>
              <a:rPr kumimoji="1" lang="en-US" altLang="ja-JP" sz="1600" baseline="-25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</a:t>
            </a:r>
            <a:r>
              <a:rPr kumimoji="1"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kumimoji="1" lang="en-US" altLang="ja-JP" sz="16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</a:t>
            </a:r>
            <a:r>
              <a:rPr kumimoji="1" lang="en-US" altLang="ja-JP" sz="1600" baseline="-250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q</a:t>
            </a:r>
            <a:r>
              <a:rPr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M</a:t>
            </a:r>
            <a:r>
              <a:rPr lang="en-US" altLang="ja-JP" sz="1600" baseline="-25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v</a:t>
            </a:r>
            <a:r>
              <a:rPr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</a:t>
            </a:r>
            <a:r>
              <a:rPr lang="en-US" altLang="ja-JP" sz="16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trainable params</a:t>
            </a:r>
            <a:r>
              <a:rPr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)</a:t>
            </a:r>
            <a:endParaRPr kumimoji="1" lang="ja-JP" alt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19970" y="5258032"/>
            <a:ext cx="995067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ja-JP" sz="1400" dirty="0"/>
              <a:t>Multiply each key from V</a:t>
            </a:r>
            <a:r>
              <a:rPr lang="en-US" altLang="ja-JP" sz="1400" baseline="-25000" dirty="0"/>
              <a:t>1</a:t>
            </a:r>
            <a:r>
              <a:rPr lang="en-US" altLang="ja-JP" sz="1400" dirty="0"/>
              <a:t> to V</a:t>
            </a:r>
            <a:r>
              <a:rPr lang="en-US" altLang="ja-JP" sz="1400" baseline="-25000" dirty="0"/>
              <a:t>9</a:t>
            </a:r>
            <a:r>
              <a:rPr lang="en-US" altLang="ja-JP" sz="1400" dirty="0"/>
              <a:t> (each of shape 1 x k), with a matrix M</a:t>
            </a:r>
            <a:r>
              <a:rPr lang="en-US" altLang="ja-JP" sz="1400" baseline="-25000" dirty="0"/>
              <a:t>k</a:t>
            </a:r>
            <a:r>
              <a:rPr lang="en-US" altLang="ja-JP" sz="1400" dirty="0"/>
              <a:t> (Key matrix) of shape k x k. </a:t>
            </a:r>
            <a:endParaRPr lang="en-US" altLang="ja-JP" sz="1400" dirty="0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ja-JP" sz="1400" dirty="0"/>
              <a:t>Multiply the query vector (shape 1 x k), with a matrix M</a:t>
            </a:r>
            <a:r>
              <a:rPr lang="en-US" altLang="ja-JP" sz="1400" baseline="-25000" dirty="0"/>
              <a:t>Q </a:t>
            </a:r>
            <a:r>
              <a:rPr lang="en-US" altLang="ja-JP" sz="1400" dirty="0"/>
              <a:t>(Query matrix) of shape k x k. (? – My deduction) </a:t>
            </a:r>
            <a:endParaRPr lang="en-US" altLang="ja-JP" sz="1400" dirty="0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ja-JP" sz="1400" dirty="0"/>
              <a:t>Multiply each value vector (shape 1 x k), with a matric M</a:t>
            </a:r>
            <a:r>
              <a:rPr lang="en-US" altLang="ja-JP" sz="1400" baseline="-25000" dirty="0"/>
              <a:t>V</a:t>
            </a:r>
            <a:r>
              <a:rPr lang="en-US" altLang="ja-JP" sz="1400" dirty="0"/>
              <a:t> (Value matrix) of shape k x k. (? – My deduction)</a:t>
            </a:r>
            <a:endParaRPr lang="en-US" altLang="ja-JP" sz="1400" baseline="-25000" dirty="0"/>
          </a:p>
        </p:txBody>
      </p:sp>
      <p:sp>
        <p:nvSpPr>
          <p:cNvPr id="18" name="Arrow: Right 17"/>
          <p:cNvSpPr/>
          <p:nvPr/>
        </p:nvSpPr>
        <p:spPr>
          <a:xfrm>
            <a:off x="5367088" y="2730108"/>
            <a:ext cx="928218" cy="33914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28"/>
          <p:cNvSpPr txBox="1"/>
          <p:nvPr/>
        </p:nvSpPr>
        <p:spPr>
          <a:xfrm>
            <a:off x="0" y="0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1. Architecture: Attention </a:t>
            </a:r>
            <a:r>
              <a:rPr lang="en-US" altLang="ja-JP" sz="2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</a:t>
            </a:r>
            <a:r>
              <a:rPr kumimoji="1" lang="en-US" altLang="ja-JP" sz="2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ayer</a:t>
            </a:r>
            <a:endParaRPr kumimoji="1" lang="ja-JP" altLang="en-US" sz="2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56" b="5278"/>
          <a:stretch>
            <a:fillRect/>
          </a:stretch>
        </p:blipFill>
        <p:spPr bwMode="auto">
          <a:xfrm>
            <a:off x="504825" y="1261766"/>
            <a:ext cx="5791200" cy="4128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/>
          <p:cNvSpPr/>
          <p:nvPr/>
        </p:nvSpPr>
        <p:spPr>
          <a:xfrm>
            <a:off x="1114425" y="3629025"/>
            <a:ext cx="4572000" cy="70485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TextBox 5"/>
          <p:cNvSpPr txBox="1"/>
          <p:nvPr/>
        </p:nvSpPr>
        <p:spPr>
          <a:xfrm>
            <a:off x="6810469" y="3780651"/>
            <a:ext cx="537435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accent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(1) Score calculations:</a:t>
            </a:r>
            <a:endParaRPr lang="en-US" altLang="ja-JP" sz="1600" b="1" dirty="0">
              <a:solidFill>
                <a:schemeClr val="accent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ja-JP" altLang="en-US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scores = Q @ K</a:t>
            </a:r>
            <a:r>
              <a:rPr lang="ja-JP" altLang="en-US" sz="1600" baseline="30000" dirty="0">
                <a:latin typeface="Calibri Light" panose="020F0302020204030204" pitchFamily="34" charset="0"/>
                <a:cs typeface="Calibri Light" panose="020F0302020204030204" pitchFamily="34" charset="0"/>
              </a:rPr>
              <a:t>T</a:t>
            </a:r>
            <a:endParaRPr lang="en-US" altLang="ja-JP" sz="1600" baseline="30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ja-JP" sz="16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scaled_scores</a:t>
            </a:r>
            <a:r>
              <a:rPr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= scores / sqrt(</a:t>
            </a:r>
            <a:r>
              <a:rPr lang="en-US" altLang="ja-JP" sz="16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d_k</a:t>
            </a:r>
            <a:r>
              <a:rPr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)</a:t>
            </a:r>
            <a:endParaRPr lang="en-US" altLang="ja-JP" sz="16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altLang="ja-JP" sz="16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altLang="ja-JP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where </a:t>
            </a:r>
            <a:r>
              <a:rPr lang="en-US" altLang="ja-JP" sz="1600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d_k</a:t>
            </a:r>
            <a:r>
              <a:rPr lang="en-US" altLang="ja-JP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 is the dimension of the keys.</a:t>
            </a:r>
            <a:endParaRPr lang="ja-JP" alt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 flipV="1">
            <a:off x="419100" y="1343025"/>
            <a:ext cx="0" cy="394335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50463" y="2676525"/>
            <a:ext cx="544153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(2) Finding weights (using </a:t>
            </a:r>
            <a:r>
              <a:rPr lang="en-US" altLang="ja-JP" sz="1600" b="1" dirty="0" err="1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softmax</a:t>
            </a:r>
            <a:r>
              <a:rPr lang="en-US" altLang="ja-JP" sz="1600" b="1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function):</a:t>
            </a:r>
            <a:endParaRPr lang="en-US" altLang="ja-JP" sz="1600" b="1" dirty="0">
              <a:solidFill>
                <a:srgbClr val="FF0000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ja-JP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Turn the scores </a:t>
            </a:r>
            <a:r>
              <a:rPr lang="en-US" altLang="ja-JP" sz="1600" dirty="0">
                <a:latin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 probabilities (weights that sum to 1)</a:t>
            </a:r>
            <a:endParaRPr lang="en-US" altLang="ja-JP" sz="1600" dirty="0">
              <a:latin typeface="Calibri Light" panose="020F0302020204030204" pitchFamily="34" charset="0"/>
              <a:cs typeface="Calibri Light" panose="020F0302020204030204" pitchFamily="34" charset="0"/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ja-JP" sz="1600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attention_weights</a:t>
            </a:r>
            <a:r>
              <a:rPr lang="en-US" altLang="ja-JP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 = </a:t>
            </a:r>
            <a:r>
              <a:rPr lang="en-US" altLang="ja-JP" sz="1600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softmax</a:t>
            </a:r>
            <a:r>
              <a:rPr lang="en-US" altLang="ja-JP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US" altLang="ja-JP" sz="1600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scaled_scores</a:t>
            </a:r>
            <a:r>
              <a:rPr lang="en-US" altLang="ja-JP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  <a:endParaRPr lang="ja-JP" alt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114425" y="2724150"/>
            <a:ext cx="4572000" cy="7048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TextBox 14"/>
          <p:cNvSpPr txBox="1"/>
          <p:nvPr/>
        </p:nvSpPr>
        <p:spPr>
          <a:xfrm>
            <a:off x="6750463" y="1444050"/>
            <a:ext cx="54415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accent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(3) Weighted sum:</a:t>
            </a:r>
            <a:endParaRPr lang="en-US" altLang="ja-JP" sz="1600" b="1" dirty="0">
              <a:solidFill>
                <a:schemeClr val="accent6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ja-JP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output = </a:t>
            </a:r>
            <a:r>
              <a:rPr lang="en-US" altLang="ja-JP" sz="1600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attention_weights</a:t>
            </a:r>
            <a:r>
              <a:rPr lang="en-US" altLang="ja-JP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 @ V</a:t>
            </a:r>
            <a:endParaRPr lang="ja-JP" alt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114425" y="1261766"/>
            <a:ext cx="4572000" cy="1311069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28"/>
          <p:cNvSpPr txBox="1"/>
          <p:nvPr/>
        </p:nvSpPr>
        <p:spPr>
          <a:xfrm>
            <a:off x="0" y="0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1. Architecture: Attention Layer – Multi-Head Attention</a:t>
            </a:r>
            <a:endParaRPr kumimoji="1" lang="ja-JP" altLang="en-US" sz="2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6450" y="1261112"/>
            <a:ext cx="6285506" cy="3448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53095" y="1543705"/>
            <a:ext cx="619055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Use multiple attentions to reduce the load on one attention to find all significant words.</a:t>
            </a:r>
            <a:endParaRPr kumimoji="1"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Increase the chances of funding relevant words easily.</a:t>
            </a:r>
            <a:endParaRPr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Each attention block is trained 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 parallel and independent of one another.</a:t>
            </a:r>
            <a:endParaRPr kumimoji="1" lang="ja-JP" alt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53094" y="2776150"/>
            <a:ext cx="594290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E.g.</a:t>
            </a:r>
            <a:endParaRPr kumimoji="1"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kumimoji="1" lang="en-US" altLang="ja-JP" sz="14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d_model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= 512 (dim of input embeddings)</a:t>
            </a:r>
            <a:endParaRPr kumimoji="1"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kumimoji="1" lang="en-US" altLang="ja-JP" sz="14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num_heads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= 8</a:t>
            </a:r>
            <a:endParaRPr kumimoji="1"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kumimoji="1"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Each head will operate in </a:t>
            </a:r>
            <a:r>
              <a:rPr kumimoji="1" lang="en-US" altLang="ja-JP" sz="14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d_k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 = </a:t>
            </a:r>
            <a:r>
              <a:rPr kumimoji="1" lang="en-US" altLang="ja-JP" sz="14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d_model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 / </a:t>
            </a:r>
            <a:r>
              <a:rPr kumimoji="1" lang="en-US" altLang="ja-JP" sz="14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num_heads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 = 64</a:t>
            </a:r>
            <a:endParaRPr kumimoji="1"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For 8 heads operating in parallel, 8 different 64-dimensional outputs/token is given </a:t>
            </a:r>
            <a:endParaRPr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Con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catenate the outputs: 8 x 64 = 512</a:t>
            </a:r>
            <a:endParaRPr kumimoji="1"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  <a:sym typeface="Wingdings" panose="05000000000000000000" pitchFamily="2" charset="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28"/>
          <p:cNvSpPr txBox="1"/>
          <p:nvPr/>
        </p:nvSpPr>
        <p:spPr>
          <a:xfrm>
            <a:off x="0" y="0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1. Architecture: Masked attention layer (decoder)</a:t>
            </a:r>
            <a:endParaRPr kumimoji="1" lang="ja-JP" altLang="en-US" sz="2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00025" y="512950"/>
            <a:ext cx="1167765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1️⃣ Masked Self-Attention (first layer in decoder):</a:t>
            </a:r>
            <a:endParaRPr kumimoji="1"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Each token </a:t>
            </a:r>
            <a:r>
              <a:rPr kumimoji="1"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can attend only to previous tokens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including itself. </a:t>
            </a:r>
            <a:r>
              <a:rPr kumimoji="1"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It cannot see future tokens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.</a:t>
            </a:r>
            <a:endParaRPr kumimoji="1"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It’s masked so the model doesn’t cheat during training by peeking at tokens it hasn’t generated yet.</a:t>
            </a:r>
            <a:endParaRPr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endParaRPr kumimoji="1"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E.g. Generating “I like dogs”</a:t>
            </a:r>
            <a:endParaRPr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kumimoji="1"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Time step 0:  can see ["&lt;</a:t>
            </a:r>
            <a:r>
              <a:rPr lang="en-US" altLang="ja-JP" sz="14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sos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&gt;"]</a:t>
            </a:r>
            <a:endParaRPr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Time step 1:  can see ["&lt;</a:t>
            </a:r>
            <a:r>
              <a:rPr lang="en-US" altLang="ja-JP" sz="14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sos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&gt;", "I"]</a:t>
            </a:r>
            <a:endParaRPr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Time step 2:  can see ["&lt;</a:t>
            </a:r>
            <a:r>
              <a:rPr lang="en-US" altLang="ja-JP" sz="14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sos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&gt;", "I", "like"]</a:t>
            </a:r>
            <a:endParaRPr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kumimoji="1"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Done with a </a:t>
            </a:r>
            <a:r>
              <a:rPr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triangular causal mask</a:t>
            </a:r>
            <a:endParaRPr lang="en-US" altLang="ja-JP" sz="1400" b="1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rcRect l="3285" t="10217"/>
          <a:stretch>
            <a:fillRect/>
          </a:stretch>
        </p:blipFill>
        <p:spPr>
          <a:xfrm>
            <a:off x="5826092" y="1960101"/>
            <a:ext cx="4751586" cy="8858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35604" y="1620177"/>
            <a:ext cx="64563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(1) 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https://github.com/SamLynnEvans/Transformer/blob/master/Batch.py#L12</a:t>
            </a:r>
            <a:endParaRPr lang="ja-JP" alt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735605" y="1322915"/>
            <a:ext cx="15311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Masking examples:</a:t>
            </a:r>
            <a:endParaRPr kumimoji="1" lang="ja-JP" altLang="en-US" sz="1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970" y="3444509"/>
            <a:ext cx="5050456" cy="321059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58718" y="2892942"/>
            <a:ext cx="64332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(2) </a:t>
            </a:r>
            <a:r>
              <a:rPr lang="en-US" altLang="ja-JP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https://github.com/Huffon/pytorch-transformer-kor-eng/blob/93eea77b9562941813856f117aad7b2e4d3c01e8/model/ops.py#L26</a:t>
            </a:r>
            <a:endParaRPr lang="ja-JP" alt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99074" y="3493162"/>
            <a:ext cx="4930139" cy="24622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ja-JP" altLang="en-US" sz="14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Decoder Block:</a:t>
            </a:r>
            <a:endParaRPr lang="ja-JP" altLang="en-US" sz="1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ja-JP" alt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ja-JP" altLang="en-U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Input (previous target tokens)</a:t>
            </a:r>
            <a:endParaRPr lang="ja-JP" alt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ja-JP" altLang="en-U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   ↓</a:t>
            </a:r>
            <a:endParaRPr lang="ja-JP" alt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ja-JP" altLang="en-US" sz="1400" b="1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Masked Self-Attention  ← only looks at past tokens</a:t>
            </a:r>
            <a:endParaRPr lang="ja-JP" altLang="en-US" sz="1400" b="1" dirty="0">
              <a:solidFill>
                <a:srgbClr val="FF0000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ja-JP" altLang="en-U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   ↓</a:t>
            </a:r>
            <a:endParaRPr lang="ja-JP" alt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ja-JP" altLang="en-U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Cross-Attention (encoder-decoder)  ← looks at full encoder output</a:t>
            </a:r>
            <a:endParaRPr lang="ja-JP" alt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ja-JP" altLang="en-U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   ↓</a:t>
            </a:r>
            <a:endParaRPr lang="ja-JP" alt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ja-JP" altLang="en-U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Feed-Forward Network</a:t>
            </a:r>
            <a:endParaRPr lang="ja-JP" alt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ja-JP" altLang="en-U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   ↓</a:t>
            </a:r>
            <a:endParaRPr lang="ja-JP" alt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ja-JP" altLang="en-U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Output</a:t>
            </a:r>
            <a:endParaRPr lang="ja-JP" alt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/>
          <p:cNvCxnSpPr/>
          <p:nvPr/>
        </p:nvCxnSpPr>
        <p:spPr>
          <a:xfrm>
            <a:off x="781050" y="1619250"/>
            <a:ext cx="10791825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19101" y="1028700"/>
            <a:ext cx="2562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Tokenization &amp; Vocab (spacy)</a:t>
            </a:r>
            <a:endParaRPr kumimoji="1" lang="ja-JP" alt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333626" y="1914525"/>
            <a:ext cx="20478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Positional Encoding</a:t>
            </a:r>
            <a:endParaRPr kumimoji="1" lang="ja-JP" alt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943351" y="1028700"/>
            <a:ext cx="22193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Multi-Head Attention</a:t>
            </a:r>
            <a:endParaRPr kumimoji="1" lang="ja-JP" alt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019801" y="1997245"/>
            <a:ext cx="22193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Feedforward Layer</a:t>
            </a:r>
            <a:endParaRPr kumimoji="1" lang="ja-JP" alt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734301" y="1028700"/>
            <a:ext cx="10001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Encoder</a:t>
            </a:r>
            <a:endParaRPr kumimoji="1" lang="ja-JP" alt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239251" y="1997245"/>
            <a:ext cx="10001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Decoder</a:t>
            </a:r>
            <a:endParaRPr kumimoji="1" lang="ja-JP" alt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344151" y="1028700"/>
            <a:ext cx="10001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train.py</a:t>
            </a:r>
            <a:endParaRPr kumimoji="1" lang="ja-JP" alt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30" name="Straight Arrow Connector 29"/>
          <p:cNvCxnSpPr/>
          <p:nvPr/>
        </p:nvCxnSpPr>
        <p:spPr>
          <a:xfrm flipV="1">
            <a:off x="1476376" y="1438275"/>
            <a:ext cx="0" cy="314325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/>
        </p:nvCxnSpPr>
        <p:spPr>
          <a:xfrm>
            <a:off x="3248026" y="1495425"/>
            <a:ext cx="0" cy="322347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>
            <a:off x="6800851" y="1514475"/>
            <a:ext cx="0" cy="322347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 flipV="1">
            <a:off x="5053013" y="1462087"/>
            <a:ext cx="0" cy="314325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V="1">
            <a:off x="8291513" y="1462087"/>
            <a:ext cx="0" cy="314325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/>
          <p:nvPr/>
        </p:nvCxnSpPr>
        <p:spPr>
          <a:xfrm flipV="1">
            <a:off x="10896601" y="1438274"/>
            <a:ext cx="0" cy="314325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9610726" y="1462087"/>
            <a:ext cx="0" cy="322347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609600" y="3448050"/>
            <a:ext cx="694523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Refs</a:t>
            </a:r>
            <a:endParaRPr kumimoji="1" lang="en-US" altLang="ja-JP" b="1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ja-JP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hlinkClick r:id="rId1"/>
              </a:rPr>
              <a:t>https://github.com/SamLynnEvans/Transformer</a:t>
            </a:r>
            <a:endParaRPr lang="en-US" altLang="ja-JP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ja-JP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https://github.com/Huffon/pytorch-transformer-kor-eng/tree/master</a:t>
            </a:r>
            <a:endParaRPr kumimoji="1" lang="ja-JP" alt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2. Plan</a:t>
            </a:r>
            <a:endParaRPr kumimoji="1" lang="ja-JP" altLang="en-US" sz="2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8015814" y="2971801"/>
            <a:ext cx="3004612" cy="1819276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path path="circle">
              <a:fillToRect t="100000" r="100000"/>
            </a:path>
            <a:tileRect l="-100000" b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TextBox 6"/>
          <p:cNvSpPr txBox="1"/>
          <p:nvPr/>
        </p:nvSpPr>
        <p:spPr>
          <a:xfrm>
            <a:off x="0" y="0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1. Tokenizer (</a:t>
            </a:r>
            <a:r>
              <a:rPr kumimoji="1" lang="en-US" altLang="ja-JP" sz="2400" b="1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konlpy</a:t>
            </a:r>
            <a:r>
              <a:rPr lang="en-US" altLang="ja-JP" sz="2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kumimoji="1" lang="en-US" altLang="ja-JP" sz="2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+ spacy) </a:t>
            </a:r>
            <a:r>
              <a:rPr kumimoji="1" lang="en-US" altLang="ja-JP" sz="2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 Recommended</a:t>
            </a:r>
            <a:endParaRPr kumimoji="1" lang="ja-JP" altLang="en-US" sz="2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77194" y="1333720"/>
            <a:ext cx="1847850" cy="8286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solidFill>
                  <a:schemeClr val="tx1"/>
                </a:solidFill>
              </a:rPr>
              <a:t>Load data from csv file</a:t>
            </a:r>
            <a:endParaRPr kumimoji="1" lang="ja-JP" altLang="en-US" sz="1600" dirty="0">
              <a:solidFill>
                <a:schemeClr val="tx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210906" y="1333720"/>
            <a:ext cx="2028825" cy="8286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solidFill>
                  <a:schemeClr val="tx1"/>
                </a:solidFill>
              </a:rPr>
              <a:t>Build vocab</a:t>
            </a:r>
            <a:endParaRPr kumimoji="1" lang="ja-JP" altLang="en-US" sz="1600" dirty="0">
              <a:solidFill>
                <a:schemeClr val="tx1"/>
              </a:solidFill>
            </a:endParaRPr>
          </a:p>
        </p:txBody>
      </p:sp>
      <p:cxnSp>
        <p:nvCxnSpPr>
          <p:cNvPr id="5" name="Straight Arrow Connector 4"/>
          <p:cNvCxnSpPr>
            <a:stCxn id="2" idx="3"/>
            <a:endCxn id="3" idx="1"/>
          </p:cNvCxnSpPr>
          <p:nvPr/>
        </p:nvCxnSpPr>
        <p:spPr>
          <a:xfrm>
            <a:off x="2025044" y="1748058"/>
            <a:ext cx="1185862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048011" y="1387001"/>
            <a:ext cx="13867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 err="1"/>
              <a:t>pd.DataFrame</a:t>
            </a:r>
            <a:endParaRPr kumimoji="1" lang="ja-JP" altLang="en-US" sz="1400" dirty="0"/>
          </a:p>
        </p:txBody>
      </p:sp>
      <p:sp>
        <p:nvSpPr>
          <p:cNvPr id="17" name="Rectangle 16"/>
          <p:cNvSpPr/>
          <p:nvPr/>
        </p:nvSpPr>
        <p:spPr>
          <a:xfrm>
            <a:off x="3686175" y="3143251"/>
            <a:ext cx="1076325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/>
              <a:t>I</a:t>
            </a:r>
            <a:endParaRPr kumimoji="1" lang="ja-JP" altLang="en-US" sz="1400" dirty="0"/>
          </a:p>
        </p:txBody>
      </p:sp>
      <p:sp>
        <p:nvSpPr>
          <p:cNvPr id="19" name="Rectangle 18"/>
          <p:cNvSpPr/>
          <p:nvPr/>
        </p:nvSpPr>
        <p:spPr>
          <a:xfrm>
            <a:off x="3686175" y="3714751"/>
            <a:ext cx="1076325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/>
              <a:t>like</a:t>
            </a:r>
            <a:endParaRPr kumimoji="1" lang="ja-JP" altLang="en-US" sz="1400" dirty="0"/>
          </a:p>
        </p:txBody>
      </p:sp>
      <p:sp>
        <p:nvSpPr>
          <p:cNvPr id="21" name="Rectangle 20"/>
          <p:cNvSpPr/>
          <p:nvPr/>
        </p:nvSpPr>
        <p:spPr>
          <a:xfrm>
            <a:off x="3686175" y="4314826"/>
            <a:ext cx="1076325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/>
              <a:t>travelling</a:t>
            </a:r>
            <a:endParaRPr kumimoji="1" lang="ja-JP" altLang="en-US" sz="1400" dirty="0"/>
          </a:p>
        </p:txBody>
      </p:sp>
      <p:sp>
        <p:nvSpPr>
          <p:cNvPr id="24" name="TextBox 23"/>
          <p:cNvSpPr txBox="1"/>
          <p:nvPr/>
        </p:nvSpPr>
        <p:spPr>
          <a:xfrm>
            <a:off x="223375" y="3881439"/>
            <a:ext cx="15648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/>
              <a:t>I like travelling</a:t>
            </a:r>
            <a:endParaRPr kumimoji="1" lang="ja-JP" altLang="en-US" sz="1600" dirty="0"/>
          </a:p>
        </p:txBody>
      </p:sp>
      <p:sp>
        <p:nvSpPr>
          <p:cNvPr id="25" name="Trapezoid 24"/>
          <p:cNvSpPr/>
          <p:nvPr/>
        </p:nvSpPr>
        <p:spPr>
          <a:xfrm rot="16200000">
            <a:off x="2205084" y="3713859"/>
            <a:ext cx="1348859" cy="588643"/>
          </a:xfrm>
          <a:prstGeom prst="trapezoi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/>
              <a:t>tokenizer</a:t>
            </a:r>
            <a:endParaRPr kumimoji="1" lang="ja-JP" altLang="en-US" sz="1600" dirty="0"/>
          </a:p>
        </p:txBody>
      </p:sp>
      <p:sp>
        <p:nvSpPr>
          <p:cNvPr id="26" name="Rectangle 25"/>
          <p:cNvSpPr/>
          <p:nvPr/>
        </p:nvSpPr>
        <p:spPr>
          <a:xfrm>
            <a:off x="5739552" y="3393491"/>
            <a:ext cx="1409700" cy="109537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/>
              <a:t>Build Vocab</a:t>
            </a:r>
            <a:endParaRPr kumimoji="1" lang="ja-JP" altLang="en-US" sz="1600" dirty="0"/>
          </a:p>
        </p:txBody>
      </p:sp>
      <p:sp>
        <p:nvSpPr>
          <p:cNvPr id="30" name="Arrow: Right 29"/>
          <p:cNvSpPr/>
          <p:nvPr/>
        </p:nvSpPr>
        <p:spPr>
          <a:xfrm>
            <a:off x="1828232" y="3881439"/>
            <a:ext cx="588645" cy="285751"/>
          </a:xfrm>
          <a:prstGeom prst="rightArrow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 dirty="0"/>
          </a:p>
        </p:txBody>
      </p:sp>
      <p:sp>
        <p:nvSpPr>
          <p:cNvPr id="31" name="Arrow: Right 30"/>
          <p:cNvSpPr/>
          <p:nvPr/>
        </p:nvSpPr>
        <p:spPr>
          <a:xfrm>
            <a:off x="4980516" y="3764965"/>
            <a:ext cx="588645" cy="285751"/>
          </a:xfrm>
          <a:prstGeom prst="rightArrow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 dirty="0"/>
          </a:p>
        </p:txBody>
      </p:sp>
      <p:sp>
        <p:nvSpPr>
          <p:cNvPr id="32" name="Rectangle 31"/>
          <p:cNvSpPr/>
          <p:nvPr/>
        </p:nvSpPr>
        <p:spPr>
          <a:xfrm>
            <a:off x="9825605" y="3121734"/>
            <a:ext cx="1076325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/>
              <a:t>0</a:t>
            </a:r>
            <a:endParaRPr kumimoji="1" lang="ja-JP" altLang="en-US" sz="1400" dirty="0"/>
          </a:p>
        </p:txBody>
      </p:sp>
      <p:sp>
        <p:nvSpPr>
          <p:cNvPr id="33" name="Rectangle 32"/>
          <p:cNvSpPr/>
          <p:nvPr/>
        </p:nvSpPr>
        <p:spPr>
          <a:xfrm>
            <a:off x="9825605" y="3693234"/>
            <a:ext cx="1076325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/>
              <a:t>14</a:t>
            </a:r>
            <a:endParaRPr kumimoji="1" lang="ja-JP" altLang="en-US" sz="1400" dirty="0"/>
          </a:p>
        </p:txBody>
      </p:sp>
      <p:sp>
        <p:nvSpPr>
          <p:cNvPr id="34" name="Rectangle 33"/>
          <p:cNvSpPr/>
          <p:nvPr/>
        </p:nvSpPr>
        <p:spPr>
          <a:xfrm>
            <a:off x="9825605" y="4293309"/>
            <a:ext cx="1076325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/>
              <a:t>22</a:t>
            </a:r>
            <a:endParaRPr kumimoji="1" lang="ja-JP" altLang="en-US" sz="1400" dirty="0"/>
          </a:p>
        </p:txBody>
      </p:sp>
      <p:sp>
        <p:nvSpPr>
          <p:cNvPr id="37" name="Arrow: Right 36"/>
          <p:cNvSpPr/>
          <p:nvPr/>
        </p:nvSpPr>
        <p:spPr>
          <a:xfrm>
            <a:off x="7288210" y="3774490"/>
            <a:ext cx="588645" cy="285751"/>
          </a:xfrm>
          <a:prstGeom prst="rightArrow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 dirty="0"/>
          </a:p>
        </p:txBody>
      </p:sp>
      <p:sp>
        <p:nvSpPr>
          <p:cNvPr id="38" name="Speech Bubble: Rectangle with Corners Rounded 37"/>
          <p:cNvSpPr/>
          <p:nvPr/>
        </p:nvSpPr>
        <p:spPr>
          <a:xfrm>
            <a:off x="1258744" y="5085757"/>
            <a:ext cx="2364673" cy="612648"/>
          </a:xfrm>
          <a:prstGeom prst="wedgeRoundRectCallout">
            <a:avLst>
              <a:gd name="adj1" fmla="val 53111"/>
              <a:gd name="adj2" fmla="val -106965"/>
              <a:gd name="adj3" fmla="val 16667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/>
                </a:solidFill>
              </a:rPr>
              <a:t>Separate sentence into meaningful chunks</a:t>
            </a:r>
            <a:endParaRPr kumimoji="1" lang="ja-JP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Speech Bubble: Rectangle with Corners Rounded 38"/>
          <p:cNvSpPr/>
          <p:nvPr/>
        </p:nvSpPr>
        <p:spPr>
          <a:xfrm>
            <a:off x="5886450" y="5026733"/>
            <a:ext cx="1810986" cy="612648"/>
          </a:xfrm>
          <a:prstGeom prst="wedgeRoundRectCallout">
            <a:avLst>
              <a:gd name="adj1" fmla="val 53111"/>
              <a:gd name="adj2" fmla="val -106965"/>
              <a:gd name="adj3" fmla="val 16667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numericize words</a:t>
            </a:r>
            <a:endParaRPr kumimoji="1" lang="ja-JP" altLang="en-US" sz="1400" dirty="0">
              <a:solidFill>
                <a:schemeClr val="tx1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8205254" y="3121734"/>
            <a:ext cx="1076325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/>
              <a:t>I</a:t>
            </a:r>
            <a:endParaRPr kumimoji="1" lang="ja-JP" altLang="en-US" sz="1400" dirty="0"/>
          </a:p>
        </p:txBody>
      </p:sp>
      <p:sp>
        <p:nvSpPr>
          <p:cNvPr id="42" name="Rectangle 41"/>
          <p:cNvSpPr/>
          <p:nvPr/>
        </p:nvSpPr>
        <p:spPr>
          <a:xfrm>
            <a:off x="8205254" y="3693234"/>
            <a:ext cx="1076325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/>
              <a:t>like</a:t>
            </a:r>
            <a:endParaRPr kumimoji="1" lang="ja-JP" altLang="en-US" sz="1400" dirty="0"/>
          </a:p>
        </p:txBody>
      </p:sp>
      <p:sp>
        <p:nvSpPr>
          <p:cNvPr id="43" name="Rectangle 42"/>
          <p:cNvSpPr/>
          <p:nvPr/>
        </p:nvSpPr>
        <p:spPr>
          <a:xfrm>
            <a:off x="8205254" y="4293309"/>
            <a:ext cx="1076325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/>
              <a:t>travelling</a:t>
            </a:r>
            <a:endParaRPr kumimoji="1" lang="ja-JP" altLang="en-US" sz="1400" dirty="0"/>
          </a:p>
        </p:txBody>
      </p:sp>
      <p:sp>
        <p:nvSpPr>
          <p:cNvPr id="44" name="Rectangle 43"/>
          <p:cNvSpPr/>
          <p:nvPr/>
        </p:nvSpPr>
        <p:spPr>
          <a:xfrm>
            <a:off x="6254762" y="1327429"/>
            <a:ext cx="2028825" cy="8286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solidFill>
                  <a:schemeClr val="tx1"/>
                </a:solidFill>
              </a:rPr>
              <a:t>Build </a:t>
            </a:r>
            <a:r>
              <a:rPr kumimoji="1" lang="en-US" altLang="ja-JP" sz="1600" dirty="0" err="1">
                <a:solidFill>
                  <a:schemeClr val="tx1"/>
                </a:solidFill>
              </a:rPr>
              <a:t>DataSet</a:t>
            </a:r>
            <a:endParaRPr kumimoji="1" lang="ja-JP" altLang="en-US" sz="1600" dirty="0">
              <a:solidFill>
                <a:schemeClr val="tx1"/>
              </a:solidFill>
            </a:endParaRPr>
          </a:p>
        </p:txBody>
      </p:sp>
      <p:cxnSp>
        <p:nvCxnSpPr>
          <p:cNvPr id="45" name="Straight Arrow Connector 44"/>
          <p:cNvCxnSpPr>
            <a:stCxn id="3" idx="3"/>
            <a:endCxn id="44" idx="1"/>
          </p:cNvCxnSpPr>
          <p:nvPr/>
        </p:nvCxnSpPr>
        <p:spPr>
          <a:xfrm flipV="1">
            <a:off x="5239731" y="1741767"/>
            <a:ext cx="1015031" cy="6291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346978" y="1360988"/>
            <a:ext cx="838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dirty="0"/>
              <a:t>Vocab</a:t>
            </a:r>
            <a:endParaRPr kumimoji="1" lang="ja-JP" alt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9787153" y="1320940"/>
            <a:ext cx="2028825" cy="8286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solidFill>
                  <a:schemeClr val="tx1"/>
                </a:solidFill>
              </a:rPr>
              <a:t>Build </a:t>
            </a:r>
            <a:r>
              <a:rPr kumimoji="1" lang="en-US" altLang="ja-JP" sz="1600" dirty="0" err="1">
                <a:solidFill>
                  <a:schemeClr val="tx1"/>
                </a:solidFill>
              </a:rPr>
              <a:t>DataLoader</a:t>
            </a:r>
            <a:endParaRPr kumimoji="1" lang="ja-JP" altLang="en-US" sz="1600" dirty="0">
              <a:solidFill>
                <a:schemeClr val="tx1"/>
              </a:solidFill>
            </a:endParaRPr>
          </a:p>
        </p:txBody>
      </p:sp>
      <p:cxnSp>
        <p:nvCxnSpPr>
          <p:cNvPr id="56" name="Straight Arrow Connector 55"/>
          <p:cNvCxnSpPr>
            <a:stCxn id="44" idx="3"/>
            <a:endCxn id="51" idx="1"/>
          </p:cNvCxnSpPr>
          <p:nvPr/>
        </p:nvCxnSpPr>
        <p:spPr>
          <a:xfrm flipV="1">
            <a:off x="8283587" y="1735278"/>
            <a:ext cx="1503566" cy="6489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8245135" y="1355006"/>
            <a:ext cx="15420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dirty="0" err="1"/>
              <a:t>torch.Dataset</a:t>
            </a:r>
            <a:endParaRPr kumimoji="1" lang="ja-JP" alt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5346" y="746948"/>
            <a:ext cx="5301080" cy="27139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466850" y="2171149"/>
            <a:ext cx="952500" cy="2382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0" y="0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1. Tokenizer (</a:t>
            </a:r>
            <a:r>
              <a:rPr kumimoji="1" lang="en-US" altLang="ja-JP" sz="2400" b="1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soynlp</a:t>
            </a:r>
            <a:r>
              <a:rPr kumimoji="1" lang="en-US" altLang="ja-JP" sz="2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)</a:t>
            </a:r>
            <a:endParaRPr kumimoji="1" lang="ja-JP" altLang="en-US" sz="2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" name="Speech Bubble: Rectangle with Corners Rounded 7"/>
          <p:cNvSpPr/>
          <p:nvPr/>
        </p:nvSpPr>
        <p:spPr>
          <a:xfrm>
            <a:off x="133349" y="2905951"/>
            <a:ext cx="2000251" cy="612648"/>
          </a:xfrm>
          <a:prstGeom prst="wedgeRoundRectCallout">
            <a:avLst>
              <a:gd name="adj1" fmla="val 29132"/>
              <a:gd name="adj2" fmla="val -105410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 err="1">
                <a:solidFill>
                  <a:schemeClr val="tx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Dict</a:t>
            </a:r>
            <a:r>
              <a:rPr kumimoji="1" lang="en-US" altLang="ja-JP" sz="1400" dirty="0">
                <a:solidFill>
                  <a:schemeClr val="tx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: (word): Scores</a:t>
            </a:r>
            <a:endParaRPr kumimoji="1" lang="en-US" altLang="ja-JP" sz="1400" dirty="0">
              <a:solidFill>
                <a:schemeClr val="tx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6096000" y="485338"/>
            <a:ext cx="60960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Objectives:</a:t>
            </a:r>
            <a:endParaRPr kumimoji="1" lang="en-US" altLang="ja-JP" sz="1400" b="1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kumimoji="1" lang="en-US" altLang="ja-JP" sz="14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WordExtractor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: Extracts meaningful words from a sentence </a:t>
            </a:r>
            <a:r>
              <a:rPr kumimoji="1"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Wingdings" panose="05000000000000000000" pitchFamily="2" charset="2"/>
              </a:rPr>
              <a:t> Builds the Lexicon.</a:t>
            </a:r>
            <a:endParaRPr kumimoji="1"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Uses the lexicon to split sentences.</a:t>
            </a:r>
            <a:endParaRPr kumimoji="1" lang="ja-JP" alt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Speech Bubble: Rectangle with Corners Rounded 2"/>
          <p:cNvSpPr/>
          <p:nvPr/>
        </p:nvSpPr>
        <p:spPr>
          <a:xfrm>
            <a:off x="5038726" y="1497899"/>
            <a:ext cx="3310352" cy="1094824"/>
          </a:xfrm>
          <a:prstGeom prst="wedgeRoundRectCallout">
            <a:avLst>
              <a:gd name="adj1" fmla="val -53179"/>
              <a:gd name="adj2" fmla="val 28587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Measures how tightly  the characters in the word sticks together (left to right). High value means it’s likely an actual word</a:t>
            </a:r>
            <a:endParaRPr kumimoji="1" lang="en-US" altLang="ja-JP" sz="1400" dirty="0">
              <a:solidFill>
                <a:schemeClr val="tx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690523" y="2400300"/>
            <a:ext cx="1214852" cy="192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346" y="3957499"/>
            <a:ext cx="5365292" cy="280520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5750" y="396736"/>
            <a:ext cx="15361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err="1">
                <a:solidFill>
                  <a:srgbClr val="FF0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WordExtractor</a:t>
            </a:r>
            <a:endParaRPr kumimoji="1" lang="ja-JP" altLang="en-US" b="1" dirty="0">
              <a:solidFill>
                <a:srgbClr val="FF0000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06974" y="3588167"/>
            <a:ext cx="1036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>
                <a:solidFill>
                  <a:srgbClr val="FF0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Tokenizer</a:t>
            </a:r>
            <a:endParaRPr kumimoji="1" lang="ja-JP" altLang="en-US" b="1" dirty="0">
              <a:solidFill>
                <a:srgbClr val="FF0000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133600" y="6524625"/>
            <a:ext cx="2628900" cy="2380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7" name="Speech Bubble: Rectangle with Corners Rounded 16"/>
          <p:cNvSpPr/>
          <p:nvPr/>
        </p:nvSpPr>
        <p:spPr>
          <a:xfrm>
            <a:off x="5833648" y="5362023"/>
            <a:ext cx="3310352" cy="1094824"/>
          </a:xfrm>
          <a:prstGeom prst="wedgeRoundRectCallout">
            <a:avLst>
              <a:gd name="adj1" fmla="val -78500"/>
              <a:gd name="adj2" fmla="val 60777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 sz="1400" dirty="0" err="1">
                <a:solidFill>
                  <a:schemeClr val="tx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LTokenizer</a:t>
            </a:r>
            <a:r>
              <a:rPr kumimoji="1" lang="en-US" altLang="ja-JP" sz="1400" dirty="0">
                <a:solidFill>
                  <a:schemeClr val="tx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stands for Left tokenizer:</a:t>
            </a:r>
            <a:endParaRPr kumimoji="1" lang="en-US" altLang="ja-JP" sz="1400" dirty="0">
              <a:solidFill>
                <a:schemeClr val="tx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kumimoji="1" lang="en-US" altLang="ja-JP" sz="1400" dirty="0">
                <a:solidFill>
                  <a:schemeClr val="tx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 + [R] → Left part (main word) + Right part (optional particle or suffix)</a:t>
            </a:r>
            <a:r>
              <a:rPr lang="en-US" altLang="ja-JP" sz="1400" dirty="0">
                <a:solidFill>
                  <a:schemeClr val="tx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.</a:t>
            </a:r>
            <a:endParaRPr lang="en-US" altLang="ja-JP" sz="1400" dirty="0">
              <a:solidFill>
                <a:schemeClr val="tx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kumimoji="1" lang="en-US" altLang="ko-KR" sz="1400" dirty="0">
                <a:solidFill>
                  <a:schemeClr val="tx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E.g.: "</a:t>
            </a:r>
            <a:r>
              <a:rPr kumimoji="1" lang="ko-KR" altLang="en-US" sz="1400" dirty="0">
                <a:solidFill>
                  <a:schemeClr val="tx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학생이</a:t>
            </a:r>
            <a:r>
              <a:rPr kumimoji="1" lang="en-US" altLang="ko-KR" sz="1400" dirty="0">
                <a:solidFill>
                  <a:schemeClr val="tx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" → "</a:t>
            </a:r>
            <a:r>
              <a:rPr kumimoji="1" lang="ko-KR" altLang="en-US" sz="1400" dirty="0">
                <a:solidFill>
                  <a:schemeClr val="tx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학생</a:t>
            </a:r>
            <a:r>
              <a:rPr kumimoji="1" lang="en-US" altLang="ko-KR" sz="1400" dirty="0">
                <a:solidFill>
                  <a:schemeClr val="tx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" (L) + "</a:t>
            </a:r>
            <a:r>
              <a:rPr kumimoji="1" lang="ko-KR" altLang="en-US" sz="1400" dirty="0">
                <a:solidFill>
                  <a:schemeClr val="tx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이</a:t>
            </a:r>
            <a:r>
              <a:rPr kumimoji="1" lang="en-US" altLang="ko-KR" sz="1400" dirty="0">
                <a:solidFill>
                  <a:schemeClr val="tx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" (R)</a:t>
            </a:r>
            <a:endParaRPr kumimoji="1" lang="en-US" altLang="ja-JP" sz="1400" dirty="0">
              <a:solidFill>
                <a:schemeClr val="tx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315074" y="3731320"/>
            <a:ext cx="36099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b="1" dirty="0">
                <a:solidFill>
                  <a:srgbClr val="FF0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Notes:</a:t>
            </a:r>
            <a:endParaRPr kumimoji="1" lang="en-US" altLang="ja-JP" sz="1400" b="1" dirty="0">
              <a:solidFill>
                <a:srgbClr val="FF00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Possible to use </a:t>
            </a:r>
            <a:r>
              <a:rPr lang="en-US" altLang="ja-JP" sz="14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hlinkClick r:id="rId3"/>
              </a:rPr>
              <a:t>spaCy</a:t>
            </a:r>
            <a:r>
              <a:rPr lang="en-US" altLang="ja-JP" sz="1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for English &amp; Korean</a:t>
            </a:r>
            <a:endParaRPr lang="en-US" altLang="ja-JP" sz="1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0"/>
            <a:ext cx="12192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1. Tokenizer (</a:t>
            </a:r>
            <a:r>
              <a:rPr kumimoji="1" lang="en-US" altLang="ja-JP" sz="2400" b="1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sentencepiece</a:t>
            </a:r>
            <a:r>
              <a:rPr kumimoji="1" lang="en-US" altLang="ja-JP" sz="2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)</a:t>
            </a:r>
            <a:endParaRPr kumimoji="1" lang="ja-JP" altLang="en-US" sz="2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24865" y="2813546"/>
            <a:ext cx="110744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err="1">
                <a:solidFill>
                  <a:srgbClr val="FF0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.vocab file</a:t>
            </a:r>
            <a:endParaRPr kumimoji="1" lang="en-US" altLang="ja-JP" b="1" dirty="0" err="1">
              <a:solidFill>
                <a:srgbClr val="FF00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57145" y="3319145"/>
            <a:ext cx="2428875" cy="2000250"/>
          </a:xfrm>
          <a:prstGeom prst="rect">
            <a:avLst/>
          </a:prstGeom>
        </p:spPr>
      </p:pic>
      <p:sp>
        <p:nvSpPr>
          <p:cNvPr id="9" name="Text Box 8"/>
          <p:cNvSpPr txBox="1"/>
          <p:nvPr/>
        </p:nvSpPr>
        <p:spPr>
          <a:xfrm>
            <a:off x="2696210" y="2823845"/>
            <a:ext cx="7810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latin typeface="Calibri Light" panose="020F0302020204030204" pitchFamily="34" charset="0"/>
                <a:cs typeface="Calibri Light" panose="020F0302020204030204" pitchFamily="34" charset="0"/>
              </a:rPr>
              <a:t>token</a:t>
            </a:r>
            <a:endParaRPr lang="en-US" b="1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1" name="Text Box 10"/>
          <p:cNvSpPr txBox="1"/>
          <p:nvPr/>
        </p:nvSpPr>
        <p:spPr>
          <a:xfrm>
            <a:off x="3877945" y="2823845"/>
            <a:ext cx="7810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latin typeface="Calibri Light" panose="020F0302020204030204" pitchFamily="34" charset="0"/>
                <a:cs typeface="Calibri Light" panose="020F0302020204030204" pitchFamily="34" charset="0"/>
              </a:rPr>
              <a:t>score</a:t>
            </a:r>
            <a:endParaRPr lang="en-US" b="1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2" name="Rounded Rectangular Callout 11"/>
          <p:cNvSpPr/>
          <p:nvPr/>
        </p:nvSpPr>
        <p:spPr>
          <a:xfrm>
            <a:off x="545465" y="3302000"/>
            <a:ext cx="1732280" cy="611505"/>
          </a:xfrm>
          <a:prstGeom prst="wedgeRoundRectCallout">
            <a:avLst>
              <a:gd name="adj1" fmla="val 94611"/>
              <a:gd name="adj2" fmla="val 25077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start of sequence</a:t>
            </a:r>
            <a:endParaRPr lang="en-US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8" name="Rounded Rectangular Callout 17"/>
          <p:cNvSpPr/>
          <p:nvPr/>
        </p:nvSpPr>
        <p:spPr>
          <a:xfrm>
            <a:off x="545465" y="4010660"/>
            <a:ext cx="1732280" cy="611505"/>
          </a:xfrm>
          <a:prstGeom prst="wedgeRoundRectCallout">
            <a:avLst>
              <a:gd name="adj1" fmla="val 89332"/>
              <a:gd name="adj2" fmla="val -40342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end of sequence</a:t>
            </a:r>
            <a:endParaRPr lang="en-US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Text Box 18"/>
          <p:cNvSpPr txBox="1"/>
          <p:nvPr/>
        </p:nvSpPr>
        <p:spPr>
          <a:xfrm>
            <a:off x="5171440" y="3302000"/>
            <a:ext cx="5737860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ja-JP" sz="1600">
                <a:latin typeface="Calibri Light" panose="020F0302020204030204" pitchFamily="34" charset="0"/>
                <a:cs typeface="Calibri Light" panose="020F0302020204030204" pitchFamily="34" charset="0"/>
              </a:rPr>
              <a:t>Higher values (less negative) = more common in the training data</a:t>
            </a:r>
            <a:endParaRPr lang="en-US" altLang="ja-JP" sz="160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630" y="1571625"/>
            <a:ext cx="7305675" cy="419100"/>
          </a:xfrm>
          <a:prstGeom prst="rect">
            <a:avLst/>
          </a:prstGeom>
        </p:spPr>
      </p:pic>
      <p:sp>
        <p:nvSpPr>
          <p:cNvPr id="22" name="Text Box 21"/>
          <p:cNvSpPr txBox="1"/>
          <p:nvPr/>
        </p:nvSpPr>
        <p:spPr>
          <a:xfrm>
            <a:off x="214630" y="829945"/>
            <a:ext cx="5737860" cy="58356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ja-JP" sz="1600">
                <a:latin typeface="Calibri Light" panose="020F0302020204030204" pitchFamily="34" charset="0"/>
                <a:cs typeface="Calibri Light" panose="020F0302020204030204" pitchFamily="34" charset="0"/>
              </a:rPr>
              <a:t>sentencepiece has better morphological understanding:</a:t>
            </a:r>
            <a:endParaRPr lang="en-US" altLang="ja-JP" sz="160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ja-JP" sz="1600">
                <a:latin typeface="Calibri Light" panose="020F0302020204030204" pitchFamily="34" charset="0"/>
                <a:cs typeface="Calibri Light" panose="020F0302020204030204" pitchFamily="34" charset="0"/>
              </a:rPr>
              <a:t>E.g. “obviously” is tokenized into “obvious” + suffix “ly”</a:t>
            </a:r>
            <a:endParaRPr lang="en-US" altLang="ja-JP" sz="160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0"/>
            <a:ext cx="12192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Dropout</a:t>
            </a:r>
            <a:endParaRPr kumimoji="1" lang="ja-JP" altLang="en-US" sz="2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189865" y="702310"/>
            <a:ext cx="527240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latin typeface="Calibri Light" panose="020F0302020204030204" pitchFamily="34" charset="0"/>
                <a:cs typeface="Calibri Light" panose="020F0302020204030204" pitchFamily="34" charset="0"/>
              </a:rPr>
              <a:t>Encoder:</a:t>
            </a:r>
            <a:endParaRPr lang="en-US" b="1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Arial" panose="020B0604020202090204" pitchFamily="34" charset="0"/>
              <a:buAutoNum type="arabicPeriod"/>
            </a:pPr>
            <a:r>
              <a:rPr lang="en-US">
                <a:latin typeface="Calibri Light" panose="020F0302020204030204" pitchFamily="34" charset="0"/>
                <a:cs typeface="Calibri Light" panose="020F0302020204030204" pitchFamily="34" charset="0"/>
                <a:sym typeface="+mn-ea"/>
              </a:rPr>
              <a:t>Feed-forward network: </a:t>
            </a:r>
            <a:r>
              <a:rPr lang="en-US">
                <a:latin typeface="Calibri Light" panose="020F0302020204030204" pitchFamily="34" charset="0"/>
                <a:cs typeface="Calibri Light" panose="020F0302020204030204" pitchFamily="34" charset="0"/>
              </a:rPr>
              <a:t>After applying ReLU  </a:t>
            </a:r>
            <a:endParaRPr lang="en-US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Arial" panose="020B0604020202090204" pitchFamily="34" charset="0"/>
              <a:buAutoNum type="arabicPeriod"/>
            </a:pPr>
            <a:r>
              <a:rPr lang="en-US">
                <a:latin typeface="Calibri Light" panose="020F0302020204030204" pitchFamily="34" charset="0"/>
                <a:cs typeface="Calibri Light" panose="020F0302020204030204" pitchFamily="34" charset="0"/>
              </a:rPr>
              <a:t>Multi-head Attention: After applying softmax</a:t>
            </a:r>
            <a:endParaRPr lang="en-US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Arial" panose="020B0604020202090204" pitchFamily="34" charset="0"/>
              <a:buAutoNum type="arabicPeriod"/>
            </a:pPr>
            <a:r>
              <a:rPr lang="en-US">
                <a:latin typeface="Calibri Light" panose="020F0302020204030204" pitchFamily="34" charset="0"/>
                <a:cs typeface="Calibri Light" panose="020F0302020204030204" pitchFamily="34" charset="0"/>
              </a:rPr>
              <a:t>After applying the attention block</a:t>
            </a:r>
            <a:endParaRPr lang="en-US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Arial" panose="020B0604020202090204" pitchFamily="34" charset="0"/>
              <a:buAutoNum type="arabicPeriod"/>
            </a:pPr>
            <a:r>
              <a:rPr lang="en-US">
                <a:latin typeface="Calibri Light" panose="020F0302020204030204" pitchFamily="34" charset="0"/>
                <a:cs typeface="Calibri Light" panose="020F0302020204030204" pitchFamily="34" charset="0"/>
              </a:rPr>
              <a:t>After applying the feed-forward block</a:t>
            </a:r>
            <a:endParaRPr lang="en-US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Arial" panose="020B0604020202090204" pitchFamily="34" charset="0"/>
              <a:buAutoNum type="arabicPeriod"/>
            </a:pPr>
            <a:r>
              <a:rPr lang="en-US">
                <a:latin typeface="Calibri Light" panose="020F0302020204030204" pitchFamily="34" charset="0"/>
                <a:cs typeface="Calibri Light" panose="020F0302020204030204" pitchFamily="34" charset="0"/>
              </a:rPr>
              <a:t>After Positional Encoding</a:t>
            </a:r>
            <a:endParaRPr lang="en-US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5150" y="702310"/>
            <a:ext cx="5067935" cy="198945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735" y="3091815"/>
            <a:ext cx="6294120" cy="195199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150" y="3021330"/>
            <a:ext cx="5055235" cy="2100580"/>
          </a:xfrm>
          <a:prstGeom prst="rect">
            <a:avLst/>
          </a:prstGeom>
        </p:spPr>
      </p:pic>
      <p:sp>
        <p:nvSpPr>
          <p:cNvPr id="8" name="Rectangle 5"/>
          <p:cNvSpPr/>
          <p:nvPr/>
        </p:nvSpPr>
        <p:spPr>
          <a:xfrm>
            <a:off x="7922260" y="1997710"/>
            <a:ext cx="1892300" cy="2895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kumimoji="1" lang="ja-JP" altLang="en-US" sz="140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0" name="Speech Bubble: Rectangle with Corners Rounded 7"/>
          <p:cNvSpPr/>
          <p:nvPr/>
        </p:nvSpPr>
        <p:spPr>
          <a:xfrm>
            <a:off x="7296785" y="1908175"/>
            <a:ext cx="465455" cy="468630"/>
          </a:xfrm>
          <a:prstGeom prst="wedgeRoundRectCallout">
            <a:avLst>
              <a:gd name="adj1" fmla="val 65809"/>
              <a:gd name="adj2" fmla="val -29612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kumimoji="1" lang="en-US" altLang="ja-JP" sz="1400" dirty="0" err="1">
                <a:solidFill>
                  <a:schemeClr val="tx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(1)</a:t>
            </a:r>
            <a:endParaRPr kumimoji="1" lang="en-US" altLang="ja-JP" sz="1400" dirty="0">
              <a:solidFill>
                <a:schemeClr val="tx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3" name="Rectangle 5"/>
          <p:cNvSpPr/>
          <p:nvPr/>
        </p:nvSpPr>
        <p:spPr>
          <a:xfrm>
            <a:off x="292735" y="4794885"/>
            <a:ext cx="2305050" cy="2895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kumimoji="1" lang="ja-JP" altLang="en-US" sz="140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5" name="Speech Bubble: Rectangle with Corners Rounded 7"/>
          <p:cNvSpPr/>
          <p:nvPr/>
        </p:nvSpPr>
        <p:spPr>
          <a:xfrm>
            <a:off x="2721610" y="4895850"/>
            <a:ext cx="465455" cy="468630"/>
          </a:xfrm>
          <a:prstGeom prst="wedgeRoundRectCallout">
            <a:avLst>
              <a:gd name="adj1" fmla="val -78376"/>
              <a:gd name="adj2" fmla="val -34010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kumimoji="1" lang="en-US" altLang="ja-JP" sz="1400" dirty="0" err="1">
                <a:solidFill>
                  <a:schemeClr val="tx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(2)</a:t>
            </a:r>
            <a:endParaRPr kumimoji="1" lang="en-US" altLang="ja-JP" sz="1400" dirty="0">
              <a:solidFill>
                <a:schemeClr val="tx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6" name="Rectangle 5"/>
          <p:cNvSpPr/>
          <p:nvPr/>
        </p:nvSpPr>
        <p:spPr>
          <a:xfrm>
            <a:off x="7068185" y="3710305"/>
            <a:ext cx="4882515" cy="2895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kumimoji="1" lang="ja-JP" altLang="en-US" sz="140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7" name="Rectangle 5"/>
          <p:cNvSpPr/>
          <p:nvPr/>
        </p:nvSpPr>
        <p:spPr>
          <a:xfrm>
            <a:off x="7077710" y="4616450"/>
            <a:ext cx="3456940" cy="2895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kumimoji="1" lang="ja-JP" altLang="en-US" sz="140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" name="Speech Bubble: Rectangle with Corners Rounded 7"/>
          <p:cNvSpPr/>
          <p:nvPr/>
        </p:nvSpPr>
        <p:spPr>
          <a:xfrm>
            <a:off x="6449695" y="3710305"/>
            <a:ext cx="465455" cy="468630"/>
          </a:xfrm>
          <a:prstGeom prst="wedgeRoundRectCallout">
            <a:avLst>
              <a:gd name="adj1" fmla="val 65809"/>
              <a:gd name="adj2" fmla="val -29612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kumimoji="1" lang="en-US" altLang="ja-JP" sz="1400" dirty="0" err="1">
                <a:solidFill>
                  <a:schemeClr val="tx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(3)</a:t>
            </a:r>
            <a:endParaRPr kumimoji="1" lang="en-US" altLang="ja-JP" sz="1400" dirty="0">
              <a:solidFill>
                <a:schemeClr val="tx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Speech Bubble: Rectangle with Corners Rounded 7"/>
          <p:cNvSpPr/>
          <p:nvPr/>
        </p:nvSpPr>
        <p:spPr>
          <a:xfrm>
            <a:off x="6449695" y="4653280"/>
            <a:ext cx="465455" cy="468630"/>
          </a:xfrm>
          <a:prstGeom prst="wedgeRoundRectCallout">
            <a:avLst>
              <a:gd name="adj1" fmla="val 65809"/>
              <a:gd name="adj2" fmla="val -29612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kumimoji="1" lang="en-US" altLang="ja-JP" sz="1400" dirty="0" err="1">
                <a:solidFill>
                  <a:schemeClr val="tx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(4)</a:t>
            </a:r>
            <a:endParaRPr kumimoji="1" lang="en-US" altLang="ja-JP" sz="1400" dirty="0">
              <a:solidFill>
                <a:schemeClr val="tx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735" y="5497195"/>
            <a:ext cx="5365750" cy="1090930"/>
          </a:xfrm>
          <a:prstGeom prst="rect">
            <a:avLst/>
          </a:prstGeom>
        </p:spPr>
      </p:pic>
      <p:sp>
        <p:nvSpPr>
          <p:cNvPr id="26" name="Rectangle 5"/>
          <p:cNvSpPr/>
          <p:nvPr/>
        </p:nvSpPr>
        <p:spPr>
          <a:xfrm>
            <a:off x="292735" y="6250305"/>
            <a:ext cx="1913255" cy="2895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kumimoji="1" lang="ja-JP" altLang="en-US" sz="140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Speech Bubble: Rectangle with Corners Rounded 7"/>
          <p:cNvSpPr/>
          <p:nvPr/>
        </p:nvSpPr>
        <p:spPr>
          <a:xfrm>
            <a:off x="2453005" y="6250305"/>
            <a:ext cx="465455" cy="468630"/>
          </a:xfrm>
          <a:prstGeom prst="wedgeRoundRectCallout">
            <a:avLst>
              <a:gd name="adj1" fmla="val -78376"/>
              <a:gd name="adj2" fmla="val -34010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kumimoji="1" lang="en-US" altLang="ja-JP" sz="1400" dirty="0" err="1">
                <a:solidFill>
                  <a:schemeClr val="tx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(5)</a:t>
            </a:r>
            <a:endParaRPr kumimoji="1" lang="en-US" altLang="ja-JP" sz="1400" dirty="0">
              <a:solidFill>
                <a:schemeClr val="tx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0"/>
            <a:ext cx="12192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latin typeface="Calibri" panose="020F0502020204030204" charset="0"/>
                <a:ea typeface="Calibri Light" panose="020F0302020204030204" pitchFamily="34" charset="0"/>
                <a:cs typeface="Calibri" panose="020F0502020204030204" charset="0"/>
              </a:rPr>
              <a:t>Beam Search (01/11/2025)</a:t>
            </a:r>
            <a:endParaRPr kumimoji="1" lang="en-US" altLang="ja-JP" sz="2400" b="1" dirty="0">
              <a:latin typeface="Calibri" panose="020F0502020204030204" charset="0"/>
              <a:ea typeface="Calibri Light" panose="020F0302020204030204" pitchFamily="34" charset="0"/>
              <a:cs typeface="Calibri" panose="020F050202020403020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132080" y="1550035"/>
            <a:ext cx="11677015" cy="58166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Beam Search can be used to enhance the meaning of the sentence as a whole. Instead of picking words with highest probability at each timestep</a:t>
            </a:r>
            <a:endParaRPr lang="en-US" altLang="en-US">
              <a:latin typeface="Calibri" panose="020F0502020204030204" charset="0"/>
              <a:cs typeface="Calibri" panose="020F050202020403020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132080" y="610235"/>
            <a:ext cx="11677015" cy="94043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en-US">
                <a:latin typeface="Calibri" panose="020F0502020204030204" charset="0"/>
                <a:cs typeface="Calibri" panose="020F0502020204030204" charset="0"/>
              </a:rPr>
              <a:t>A week before, I discovered that accuracy is not a useful metric for seq2seq models as words can be synonyms -&gt; cannot represent the reference with 100% ‘happy’ can also be translated as ‘joyful’ yet those two words have different tokens </a:t>
            </a:r>
            <a:endParaRPr lang="en-US" altLang="en-US">
              <a:latin typeface="Calibri" panose="020F0502020204030204" charset="0"/>
              <a:cs typeface="Calibri" panose="020F0502020204030204" charset="0"/>
            </a:endParaRPr>
          </a:p>
          <a:p>
            <a:r>
              <a:rPr lang="en-US">
                <a:latin typeface="Calibri" panose="020F0502020204030204" charset="0"/>
                <a:cs typeface="Calibri" panose="020F0502020204030204" charset="0"/>
              </a:rPr>
              <a:t>-&gt; Use BLEU to evaluate model’s performance</a:t>
            </a:r>
            <a:endParaRPr lang="en-US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11" name="Text Box 10"/>
          <p:cNvSpPr txBox="1"/>
          <p:nvPr/>
        </p:nvSpPr>
        <p:spPr>
          <a:xfrm>
            <a:off x="143510" y="2296795"/>
            <a:ext cx="115322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en-US">
                <a:latin typeface="Calibri" panose="020F0502020204030204" charset="0"/>
                <a:cs typeface="Calibri" panose="020F0502020204030204" charset="0"/>
                <a:sym typeface="+mn-ea"/>
              </a:rPr>
              <a:t>Beam Search with length norm -&gt; encourages long sentences: https://arxiv.org/pdf/1609.08144</a:t>
            </a:r>
            <a:endParaRPr lang="en-US" altLang="en-US">
              <a:latin typeface="Calibri" panose="020F0502020204030204" charset="0"/>
              <a:cs typeface="Calibri" panose="020F05020202040302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5851</Words>
  <Application>WPS Presentation</Application>
  <PresentationFormat>Widescreen</PresentationFormat>
  <Paragraphs>276</Paragraphs>
  <Slides>13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13</vt:i4>
      </vt:variant>
    </vt:vector>
  </HeadingPairs>
  <TitlesOfParts>
    <vt:vector size="26" baseType="lpstr">
      <vt:lpstr>Arial</vt:lpstr>
      <vt:lpstr>SimSun</vt:lpstr>
      <vt:lpstr>Wingdings</vt:lpstr>
      <vt:lpstr>Calibri Light</vt:lpstr>
      <vt:lpstr>Calibri</vt:lpstr>
      <vt:lpstr>Yu Gothic</vt:lpstr>
      <vt:lpstr>Microsoft YaHei</vt:lpstr>
      <vt:lpstr>Arial Unicode MS</vt:lpstr>
      <vt:lpstr>Yu Gothic Light</vt:lpstr>
      <vt:lpstr>BatangChe</vt:lpstr>
      <vt:lpstr>Segoe Print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Minh Lê</dc:creator>
  <cp:lastModifiedBy>WPS_1733556317</cp:lastModifiedBy>
  <cp:revision>27</cp:revision>
  <dcterms:created xsi:type="dcterms:W3CDTF">2025-05-26T09:19:00Z</dcterms:created>
  <dcterms:modified xsi:type="dcterms:W3CDTF">2025-11-01T07:48:05Z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653624FADC5B44BA9B9A7F548C8F3886_12</vt:lpwstr>
  </property>
  <property fmtid="{D5CDD505-2E9C-101B-9397-08002B2CF9AE}" pid="3" name="KSOProductBuildVer">
    <vt:lpwstr>1033-12.2.0.23131</vt:lpwstr>
  </property>
</Properties>
</file>