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5" r:id="rId3"/>
    <p:sldId id="260" r:id="rId4"/>
    <p:sldId id="262" r:id="rId5"/>
    <p:sldId id="263" r:id="rId6"/>
    <p:sldId id="264" r:id="rId7"/>
    <p:sldId id="261" r:id="rId8"/>
    <p:sldId id="257" r:id="rId9"/>
    <p:sldId id="258" r:id="rId10"/>
    <p:sldId id="25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624" y="108"/>
      </p:cViewPr>
      <p:guideLst>
        <p:guide orient="horz" pos="12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59575-F8F4-4BF3-9B57-12013E1BF857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5129E-3C77-4430-9B22-F2D6B19928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68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3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4984-A3BF-C24C-0AA8-9566903F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210BB-2165-7EF8-9741-8F7E382E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C49E7-6F5C-12F8-18A0-8178B8C21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B87FD-EB94-7DFB-ABCA-02923E1DC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545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3F61-A725-7D18-49B7-4F5D41CD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1494E-7F59-43EC-4AA7-94E2B8109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D84B5-A5F6-5E41-9D8F-E0BA082F0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29745-3B85-D311-EFB3-CE82DAA85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129E-3C77-4430-9B22-F2D6B19928E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53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9F6A-0C18-A99E-BBBA-E96ABA223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D46AE-A83F-D49C-F005-F10790AF3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33884-B72A-A89C-3707-474088D3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3D741-0B59-F422-B0F7-FECB7D48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07061-B9C1-FFD5-3BFA-C8CFF39E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89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52C1-448A-E717-F698-332A0511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541A-0E99-EBF5-A8CE-15F7234CF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0F11-DE21-FADD-74BD-0B504193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15E59-21FA-8024-46B5-5E916C02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86AC7-52F7-A4FA-5293-4DFCBA38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655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63E0-CFBA-FB23-4F55-7D3D0EEC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60319-7633-5463-1C63-13C6776CD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57E7B-3561-AF20-FD75-8F1DC2D5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F146-C95C-9691-44D4-C98A2A01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55B3E-1083-A67E-FC14-1B9546C4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80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07C5-CA1C-F20B-E7BE-66DB04BF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9693-8FFD-FC58-59FD-09D01F1D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92F4-3784-3CA6-6A12-B91F97F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B4E6C-E2D9-876D-A497-038AF8B0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CF53A-BA1F-5AFA-0687-B49515CE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29207-97EE-0068-5810-255C5507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91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CDF2-ABB7-7B89-0F1B-90380E5A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11678-9CF9-B3A7-53CB-8DFFFCB0C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BA263-EC2A-50FB-DD55-C8D08A26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1E0D5-8A1E-FD73-259B-AC35E2F2C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465AE-B9AA-0F9A-5BAE-03E391994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821B2-E95D-8B32-CB4C-22785061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402905-3A5C-71C9-8B33-07BFDEF2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F7B05-1731-1ED4-A522-2907B034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66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F8CB-A6DE-417A-FAD7-A65D5028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815BD-01F6-04E8-452D-61384963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0591D-DC7D-5F51-9236-ED463790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DBE0F-F99B-436E-250F-B382541E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09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61AD4-C76A-1278-67E5-FA917862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BDCB8-4451-A227-5F85-70950261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972AB-DA54-8B68-E5B5-2C0188BE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10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6107-3F07-78A3-30DE-91307B715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FD4D2-89CA-272A-A95F-BD3EE561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0E27E-FDCB-7445-63FF-34875F05E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B6275-0993-533B-C9E9-F9B3C304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DAEC5-B3BC-2FEF-B09C-B0273A2D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39C1C-8CDC-35B6-508F-DF3263C6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00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1A64-895A-5D1F-7664-DE6BE1DF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C139E-0208-9602-553C-4B04098BF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E5065-8FD1-50E9-262B-6BE5BEB3D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39413-BDF9-92A5-542C-70DEDAA1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5AEC9-D766-FA27-3C35-F4BB13B6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02D9E-0844-DD40-BD97-DA64BBD8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66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EFDD-AF0B-4982-11CF-647D2809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C4E41-553B-40C6-522A-BA58DEC53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B518-AA20-9C82-DA11-FC5569A9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5A21E-3E92-F344-EB58-13DAD861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D3FBE-29BC-EBD9-A936-9697FFE9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856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01638-9491-9974-C59F-DF9183E84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7F9A6-B817-F938-E9E1-7C1EFF87B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C8845-EE0A-C14B-241F-EAFEAA8C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E57B-1443-CD9A-9293-8B382736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6F101-B3C6-1C42-8369-E25EC76B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30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B536A-F238-C656-AD4C-6A6FBACC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154A9-F212-C0D6-094E-9C53E8D7B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488BE-E01A-0971-EB8A-34C3DF56E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45288-4E63-4A9A-9FF7-11823647D6C9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5617-2432-5C85-9EAE-1531BD094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6BD7-71C7-FC79-0A3F-0BD0005B0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67D3B-9FB3-4BD5-BAC9-DA5EEE515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23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T3OT8kqoqjc&amp;ab_channel=BrainDrai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medium.com/data-science/all-you-need-to-know-about-attention-and-transformers-in-depth-understanding-part-1-552f0b41d02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LynnEvans/Transformer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pacy.io/usage/mode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EC4B3-3D08-B2E4-98FE-99695D41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1365A6FB-F89A-40C2-77D3-68DDEA1C2656}"/>
              </a:ext>
            </a:extLst>
          </p:cNvPr>
          <p:cNvSpPr txBox="1"/>
          <p:nvPr/>
        </p:nvSpPr>
        <p:spPr>
          <a:xfrm>
            <a:off x="0" y="6581001"/>
            <a:ext cx="48291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/>
              <a:t>Refs: </a:t>
            </a:r>
            <a:r>
              <a:rPr lang="ja-JP" altLang="en-US" sz="1100" dirty="0"/>
              <a:t>https://huggingface.co/learn/llm-course/en/chapter1/4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4E91C1-84EB-55F6-5A2F-5AA419ECA1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F26EB2-CD3D-8E4C-898B-4B539931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7810"/>
            <a:ext cx="2581275" cy="39444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CC8180C-072E-DE43-FDF7-16B181AA1BAF}"/>
              </a:ext>
            </a:extLst>
          </p:cNvPr>
          <p:cNvSpPr txBox="1"/>
          <p:nvPr/>
        </p:nvSpPr>
        <p:spPr>
          <a:xfrm>
            <a:off x="2933700" y="1217810"/>
            <a:ext cx="90297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(left): 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encoder receives an input and builds a representation of it (its features). This means that the model is 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optimized to acquire understanding from the input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(right): 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decoder uses the encoder’s representation (features) along with other inputs to generate a target sequence. This means that the model is 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optimized for generating outputs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C546DE-B32F-4C30-49AA-17D410BDF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92" y="4131701"/>
            <a:ext cx="5248708" cy="161003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992F034-1267-20C4-A384-16EA616E0596}"/>
              </a:ext>
            </a:extLst>
          </p:cNvPr>
          <p:cNvSpPr txBox="1"/>
          <p:nvPr/>
        </p:nvSpPr>
        <p:spPr>
          <a:xfrm>
            <a:off x="3095192" y="3020743"/>
            <a:ext cx="3210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["i", "like", "books"]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5E8F98-F9ED-00C1-C39F-26A91ED5D589}"/>
              </a:ext>
            </a:extLst>
          </p:cNvPr>
          <p:cNvSpPr txBox="1"/>
          <p:nvPr/>
        </p:nvSpPr>
        <p:spPr>
          <a:xfrm>
            <a:off x="3095191" y="3517006"/>
            <a:ext cx="3286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["&lt;sos&gt;", "i", "like", "books"]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88DFCC8D-5E9C-23FE-3801-2E5CEF2A43C3}"/>
              </a:ext>
            </a:extLst>
          </p:cNvPr>
          <p:cNvSpPr/>
          <p:nvPr/>
        </p:nvSpPr>
        <p:spPr>
          <a:xfrm>
            <a:off x="5724524" y="3130226"/>
            <a:ext cx="390092" cy="119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940CFB8C-437E-1932-CA10-7922A83F9B39}"/>
              </a:ext>
            </a:extLst>
          </p:cNvPr>
          <p:cNvSpPr/>
          <p:nvPr/>
        </p:nvSpPr>
        <p:spPr>
          <a:xfrm>
            <a:off x="5724524" y="3643944"/>
            <a:ext cx="390092" cy="119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CF0807-290A-0C77-3450-A2BEAE410F45}"/>
              </a:ext>
            </a:extLst>
          </p:cNvPr>
          <p:cNvSpPr txBox="1"/>
          <p:nvPr/>
        </p:nvSpPr>
        <p:spPr>
          <a:xfrm>
            <a:off x="6232131" y="3012235"/>
            <a:ext cx="3386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target (what it should predict)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68BABC-DC25-97A4-670A-F6F8DE0EC734}"/>
              </a:ext>
            </a:extLst>
          </p:cNvPr>
          <p:cNvSpPr txBox="1"/>
          <p:nvPr/>
        </p:nvSpPr>
        <p:spPr>
          <a:xfrm>
            <a:off x="6232131" y="3552903"/>
            <a:ext cx="1362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 input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BDB9CB-BA69-F641-A075-B5BBA37BA25D}"/>
              </a:ext>
            </a:extLst>
          </p:cNvPr>
          <p:cNvSpPr txBox="1"/>
          <p:nvPr/>
        </p:nvSpPr>
        <p:spPr>
          <a:xfrm>
            <a:off x="638175" y="517983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0F1A68-2728-A675-2488-ABCA99161EDA}"/>
              </a:ext>
            </a:extLst>
          </p:cNvPr>
          <p:cNvSpPr txBox="1"/>
          <p:nvPr/>
        </p:nvSpPr>
        <p:spPr>
          <a:xfrm>
            <a:off x="1915732" y="5184240"/>
            <a:ext cx="47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KOR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C57EDF-9DED-77F5-CFA9-178D47F8DD25}"/>
              </a:ext>
            </a:extLst>
          </p:cNvPr>
          <p:cNvSpPr txBox="1"/>
          <p:nvPr/>
        </p:nvSpPr>
        <p:spPr>
          <a:xfrm>
            <a:off x="1915732" y="936967"/>
            <a:ext cx="47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KOR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91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8F2B-AC7D-2FF7-4009-688B45A5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921263A-FF29-C07A-824D-D02868DD2F12}"/>
              </a:ext>
            </a:extLst>
          </p:cNvPr>
          <p:cNvSpPr/>
          <p:nvPr/>
        </p:nvSpPr>
        <p:spPr>
          <a:xfrm>
            <a:off x="8085678" y="171450"/>
            <a:ext cx="4121737" cy="24098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C18B3-49B2-9823-17E7-D63282AB10A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</a:t>
            </a:r>
            <a:r>
              <a:rPr kumimoji="1" lang="en-US" altLang="ja-JP" sz="24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Positional Encoding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9AF5F-8BF2-C67C-0931-3B75616F28B7}"/>
              </a:ext>
            </a:extLst>
          </p:cNvPr>
          <p:cNvSpPr txBox="1"/>
          <p:nvPr/>
        </p:nvSpPr>
        <p:spPr>
          <a:xfrm>
            <a:off x="90488" y="648771"/>
            <a:ext cx="11968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Transformers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process all tokens in parallel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must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inject information about token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positions into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A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sinusoidal positional encoding vector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is created for each token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D4A44-8396-B427-5BBB-E5F389AEF652}"/>
              </a:ext>
            </a:extLst>
          </p:cNvPr>
          <p:cNvSpPr txBox="1"/>
          <p:nvPr/>
        </p:nvSpPr>
        <p:spPr>
          <a:xfrm>
            <a:off x="195263" y="6568499"/>
            <a:ext cx="585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Refs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A6721-EE72-F454-0FC2-8C40816DC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8" y="2129720"/>
            <a:ext cx="8235177" cy="444363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EE6E5E09-EADF-A761-75C5-EF186B137D68}"/>
              </a:ext>
            </a:extLst>
          </p:cNvPr>
          <p:cNvSpPr/>
          <p:nvPr/>
        </p:nvSpPr>
        <p:spPr>
          <a:xfrm rot="3841911">
            <a:off x="8532357" y="4405383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81D10-80CF-1FE2-F025-DD2E0E548397}"/>
              </a:ext>
            </a:extLst>
          </p:cNvPr>
          <p:cNvSpPr txBox="1"/>
          <p:nvPr/>
        </p:nvSpPr>
        <p:spPr>
          <a:xfrm>
            <a:off x="8801100" y="4276725"/>
            <a:ext cx="2402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many words per sentence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9D6E29F-31E5-0825-A279-F13557F0370F}"/>
              </a:ext>
            </a:extLst>
          </p:cNvPr>
          <p:cNvSpPr/>
          <p:nvPr/>
        </p:nvSpPr>
        <p:spPr>
          <a:xfrm rot="3841911">
            <a:off x="8100195" y="5494822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A1B61-6626-00EC-428E-2318E92E6EA1}"/>
              </a:ext>
            </a:extLst>
          </p:cNvPr>
          <p:cNvSpPr txBox="1"/>
          <p:nvPr/>
        </p:nvSpPr>
        <p:spPr>
          <a:xfrm>
            <a:off x="8505825" y="5568879"/>
            <a:ext cx="2244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Embedding space dimension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382CBB-FD76-9EAC-3CAB-795A1EB58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787" y="2219325"/>
            <a:ext cx="539966" cy="39485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5B5775-3D1C-1C4C-5DAB-DD4C54610F86}"/>
              </a:ext>
            </a:extLst>
          </p:cNvPr>
          <p:cNvSpPr txBox="1"/>
          <p:nvPr/>
        </p:nvSpPr>
        <p:spPr>
          <a:xfrm>
            <a:off x="2358970" y="1397410"/>
            <a:ext cx="339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encoded vector is unique in a sequence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FF29C57-E123-EAB0-23C7-7C539695368A}"/>
              </a:ext>
            </a:extLst>
          </p:cNvPr>
          <p:cNvSpPr/>
          <p:nvPr/>
        </p:nvSpPr>
        <p:spPr>
          <a:xfrm rot="1796218">
            <a:off x="2147847" y="1593443"/>
            <a:ext cx="160344" cy="645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8578E69-221F-2D50-C6CA-3F16DE329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707013"/>
            <a:ext cx="4019550" cy="12099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0014A91-E8DB-269E-1230-8B871B9CA8EC}"/>
              </a:ext>
            </a:extLst>
          </p:cNvPr>
          <p:cNvSpPr txBox="1"/>
          <p:nvPr/>
        </p:nvSpPr>
        <p:spPr>
          <a:xfrm>
            <a:off x="10246045" y="620495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</a:rPr>
              <a:t>t (position)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E3CD86-2658-9DCA-B544-EBFDA5633AC3}"/>
              </a:ext>
            </a:extLst>
          </p:cNvPr>
          <p:cNvSpPr txBox="1"/>
          <p:nvPr/>
        </p:nvSpPr>
        <p:spPr>
          <a:xfrm>
            <a:off x="10505090" y="832761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</a:rPr>
              <a:t>embedding space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FCBD1-1FF7-2F73-8464-0DAFAAB354E7}"/>
              </a:ext>
            </a:extLst>
          </p:cNvPr>
          <p:cNvSpPr txBox="1"/>
          <p:nvPr/>
        </p:nvSpPr>
        <p:spPr>
          <a:xfrm>
            <a:off x="8581210" y="2025789"/>
            <a:ext cx="3610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https://github.com/SamLynnEvans/Transformer/blob/master/Embed.py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60C917-F6D8-5333-0546-CA6EE55FC52B}"/>
              </a:ext>
            </a:extLst>
          </p:cNvPr>
          <p:cNvSpPr txBox="1"/>
          <p:nvPr/>
        </p:nvSpPr>
        <p:spPr>
          <a:xfrm>
            <a:off x="8108224" y="220746"/>
            <a:ext cx="1563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solidFill>
                  <a:schemeClr val="tx2"/>
                </a:solidFill>
              </a:rPr>
              <a:t>Implementation</a:t>
            </a:r>
            <a:endParaRPr kumimoji="1" lang="ja-JP" altLang="en-US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58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09AE-2AF3-2835-7A5E-098E2FF79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Transformer Model - MachineLearningMastery.com">
            <a:extLst>
              <a:ext uri="{FF2B5EF4-FFF2-40B4-BE49-F238E27FC236}">
                <a16:creationId xmlns:a16="http://schemas.microsoft.com/office/drawing/2014/main" id="{354A6BF9-444F-F2C3-9098-9F9754266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225" y="13004"/>
            <a:ext cx="2819434" cy="397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8118A48-4DF8-541F-7401-4BB3E24A0F6C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6BBD8-5983-D06E-E265-DFDD4C1C27CC}"/>
              </a:ext>
            </a:extLst>
          </p:cNvPr>
          <p:cNvSpPr txBox="1"/>
          <p:nvPr/>
        </p:nvSpPr>
        <p:spPr>
          <a:xfrm>
            <a:off x="252413" y="471398"/>
            <a:ext cx="47005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 Consider two sentences:</a:t>
            </a:r>
          </a:p>
          <a:p>
            <a:endParaRPr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drank the milk because </a:t>
            </a:r>
            <a:r>
              <a:rPr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was hungry.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cat drank the </a:t>
            </a:r>
            <a:r>
              <a:rPr lang="en-US" altLang="ja-JP" sz="1400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milk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because </a:t>
            </a:r>
            <a:r>
              <a:rPr lang="en-US" altLang="ja-JP" sz="1400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was sweet.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66F5E-2A47-FFD5-DB25-339C2572D89B}"/>
              </a:ext>
            </a:extLst>
          </p:cNvPr>
          <p:cNvSpPr txBox="1"/>
          <p:nvPr/>
        </p:nvSpPr>
        <p:spPr>
          <a:xfrm>
            <a:off x="4448173" y="1696484"/>
            <a:ext cx="45434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Idea:</a:t>
            </a:r>
            <a:r>
              <a:rPr lang="ja-JP" altLang="en-US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</a:t>
            </a:r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some</a:t>
            </a:r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weights (W) to the initial word embeddings (V embeddings)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relevance between words (Y embeddings)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5AC09F3-ED22-B061-4786-53F83F5F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6" y="1696484"/>
            <a:ext cx="373380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B2E249-03C8-EBD9-A4B0-AFEAA3E3A15D}"/>
              </a:ext>
            </a:extLst>
          </p:cNvPr>
          <p:cNvSpPr txBox="1"/>
          <p:nvPr/>
        </p:nvSpPr>
        <p:spPr>
          <a:xfrm>
            <a:off x="466729" y="1401308"/>
            <a:ext cx="552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Refs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DC8FC5-7357-B871-15E1-22E016A947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34"/>
          <a:stretch>
            <a:fillRect/>
          </a:stretch>
        </p:blipFill>
        <p:spPr>
          <a:xfrm>
            <a:off x="561977" y="4023691"/>
            <a:ext cx="3733799" cy="9890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4AB057-C21C-AC22-0863-ADA31662217C}"/>
              </a:ext>
            </a:extLst>
          </p:cNvPr>
          <p:cNvSpPr txBox="1"/>
          <p:nvPr/>
        </p:nvSpPr>
        <p:spPr>
          <a:xfrm>
            <a:off x="4448173" y="2639553"/>
            <a:ext cx="54483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(2) Finding the weights: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</a:t>
            </a:r>
            <a:r>
              <a:rPr kumimoji="1"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11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W</a:t>
            </a:r>
            <a:r>
              <a:rPr kumimoji="1"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19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relationships of other words to the 1</a:t>
            </a:r>
            <a:r>
              <a:rPr kumimoji="1" lang="en-US" altLang="ja-JP" sz="1400" baseline="30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st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token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Repeat the calculat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ion for other words (W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21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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29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,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31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 W</a:t>
            </a:r>
            <a:r>
              <a:rPr lang="en-US" altLang="ja-JP" sz="14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39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, etc.)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B27E9C-CBD5-A684-19BB-1F504D5388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18" r="15445"/>
          <a:stretch>
            <a:fillRect/>
          </a:stretch>
        </p:blipFill>
        <p:spPr>
          <a:xfrm>
            <a:off x="4471987" y="3328330"/>
            <a:ext cx="962025" cy="14432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263EE0-C560-76C5-A921-0E4F2954701A}"/>
              </a:ext>
            </a:extLst>
          </p:cNvPr>
          <p:cNvSpPr txBox="1"/>
          <p:nvPr/>
        </p:nvSpPr>
        <p:spPr>
          <a:xfrm>
            <a:off x="5559840" y="3384170"/>
            <a:ext cx="37698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two vectors point in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Roughly the same direction </a:t>
            </a:r>
            <a:r>
              <a:rPr lang="en-US" altLang="ja-JP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their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dot product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will be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large and (+)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Orthogonal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the dot product is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zero.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Opposite directions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the result is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(-).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A70889B3-1E70-B1B1-A1D4-D754567DE904}"/>
              </a:ext>
            </a:extLst>
          </p:cNvPr>
          <p:cNvCxnSpPr>
            <a:stCxn id="19" idx="2"/>
          </p:cNvCxnSpPr>
          <p:nvPr/>
        </p:nvCxnSpPr>
        <p:spPr>
          <a:xfrm rot="16200000" flipH="1">
            <a:off x="5062309" y="4662258"/>
            <a:ext cx="467183" cy="6858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F343E21-6575-1702-C4B1-AD66CD8C044B}"/>
              </a:ext>
            </a:extLst>
          </p:cNvPr>
          <p:cNvSpPr txBox="1"/>
          <p:nvPr/>
        </p:nvSpPr>
        <p:spPr>
          <a:xfrm>
            <a:off x="5619748" y="4933375"/>
            <a:ext cx="6457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Project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onto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(the projected vector is called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), dot product of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*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 *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</a:t>
            </a:r>
          </a:p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 |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A’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 = |</a:t>
            </a:r>
            <a:r>
              <a:rPr kumimoji="1" lang="en-US" altLang="ja-JP" sz="1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|cos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kumimoji="1" lang="el-GR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θ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2949D85-9EE5-557F-E224-20ABC7A0AF6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568"/>
          <a:stretch>
            <a:fillRect/>
          </a:stretch>
        </p:blipFill>
        <p:spPr>
          <a:xfrm>
            <a:off x="552130" y="5205901"/>
            <a:ext cx="3715068" cy="11779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CEC46F2-B85E-4882-F3EE-DFB069F6887E}"/>
              </a:ext>
            </a:extLst>
          </p:cNvPr>
          <p:cNvSpPr txBox="1"/>
          <p:nvPr/>
        </p:nvSpPr>
        <p:spPr>
          <a:xfrm>
            <a:off x="4471987" y="5570236"/>
            <a:ext cx="6143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(3) New embeddings w/ context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A08E3A-FE07-383F-7B1A-97B4AF052627}"/>
              </a:ext>
            </a:extLst>
          </p:cNvPr>
          <p:cNvSpPr txBox="1"/>
          <p:nvPr/>
        </p:nvSpPr>
        <p:spPr>
          <a:xfrm>
            <a:off x="0" y="1629966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</a:t>
            </a:r>
            <a:endParaRPr lang="ja-JP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52B913-693F-B01D-B0C4-296212240529}"/>
              </a:ext>
            </a:extLst>
          </p:cNvPr>
          <p:cNvSpPr txBox="1"/>
          <p:nvPr/>
        </p:nvSpPr>
        <p:spPr>
          <a:xfrm>
            <a:off x="23817" y="4023691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ja-JP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endParaRPr lang="ja-JP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7477F5-FA61-CC74-3BC6-01FC8AA02D26}"/>
              </a:ext>
            </a:extLst>
          </p:cNvPr>
          <p:cNvSpPr txBox="1"/>
          <p:nvPr/>
        </p:nvSpPr>
        <p:spPr>
          <a:xfrm>
            <a:off x="23817" y="5235083"/>
            <a:ext cx="44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(3)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684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F586-9684-C59D-30D3-CDA85C26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7B08A05-CA29-59D6-EDE8-7EECBD87734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F27869-0297-3163-1631-65546EA34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4" y="1434876"/>
            <a:ext cx="3309505" cy="312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488861-AC9F-3A96-26FF-C541104BA57D}"/>
              </a:ext>
            </a:extLst>
          </p:cNvPr>
          <p:cNvSpPr txBox="1"/>
          <p:nvPr/>
        </p:nvSpPr>
        <p:spPr>
          <a:xfrm>
            <a:off x="3686186" y="689512"/>
            <a:ext cx="4290021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QUERY 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</a:t>
            </a:r>
            <a:r>
              <a:rPr kumimoji="1"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other words (</a:t>
            </a:r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results in </a:t>
            </a:r>
            <a:r>
              <a:rPr kumimoji="1"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VALUE</a:t>
            </a:r>
            <a:endParaRPr kumimoji="1" lang="ja-JP" altLang="en-US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2AC5521-3BB6-8376-9FA7-A3FA2CEFE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366" y="1240750"/>
            <a:ext cx="3662797" cy="361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3EBBBA-8466-9119-B878-9179A5963F13}"/>
              </a:ext>
            </a:extLst>
          </p:cNvPr>
          <p:cNvSpPr txBox="1"/>
          <p:nvPr/>
        </p:nvSpPr>
        <p:spPr>
          <a:xfrm>
            <a:off x="4952547" y="1738523"/>
            <a:ext cx="1793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Adding M</a:t>
            </a:r>
            <a:r>
              <a:rPr kumimoji="1"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kumimoji="1"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kumimoji="1" lang="en-US" altLang="ja-JP" sz="1600" baseline="-25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</a:t>
            </a:r>
            <a:r>
              <a:rPr lang="en-US" altLang="ja-JP" sz="1600" baseline="-25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altLang="ja-JP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trainable params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3DC2A-8D12-F553-4A9D-4FA4D1F29E1C}"/>
              </a:ext>
            </a:extLst>
          </p:cNvPr>
          <p:cNvSpPr txBox="1"/>
          <p:nvPr/>
        </p:nvSpPr>
        <p:spPr>
          <a:xfrm>
            <a:off x="1319970" y="5258032"/>
            <a:ext cx="99506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/>
              <a:t>Multiply each key from V</a:t>
            </a:r>
            <a:r>
              <a:rPr lang="en-US" altLang="ja-JP" sz="1400" baseline="-25000" dirty="0"/>
              <a:t>1</a:t>
            </a:r>
            <a:r>
              <a:rPr lang="en-US" altLang="ja-JP" sz="1400" dirty="0"/>
              <a:t> to V</a:t>
            </a:r>
            <a:r>
              <a:rPr lang="en-US" altLang="ja-JP" sz="1400" baseline="-25000" dirty="0"/>
              <a:t>9</a:t>
            </a:r>
            <a:r>
              <a:rPr lang="en-US" altLang="ja-JP" sz="1400" dirty="0"/>
              <a:t> (each of shape 1 x k), with a matrix M</a:t>
            </a:r>
            <a:r>
              <a:rPr lang="en-US" altLang="ja-JP" sz="1400" baseline="-25000" dirty="0"/>
              <a:t>k</a:t>
            </a:r>
            <a:r>
              <a:rPr lang="en-US" altLang="ja-JP" sz="1400" dirty="0"/>
              <a:t> (Key matrix) of shape k x k.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/>
              <a:t>Multiply the query vector (shape 1 x k), with a matrix M</a:t>
            </a:r>
            <a:r>
              <a:rPr lang="en-US" altLang="ja-JP" sz="1400" baseline="-25000" dirty="0"/>
              <a:t>Q </a:t>
            </a:r>
            <a:r>
              <a:rPr lang="en-US" altLang="ja-JP" sz="1400" dirty="0"/>
              <a:t>(Query matrix) of shape k x k. (? – My deduction)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/>
              <a:t>Multiply each value vector (shape 1 x k), with a matric M</a:t>
            </a:r>
            <a:r>
              <a:rPr lang="en-US" altLang="ja-JP" sz="1400" baseline="-25000" dirty="0"/>
              <a:t>V</a:t>
            </a:r>
            <a:r>
              <a:rPr lang="en-US" altLang="ja-JP" sz="1400" dirty="0"/>
              <a:t> (Value matrix) of shape k x k. (? – My deduction)</a:t>
            </a:r>
            <a:endParaRPr lang="en-US" altLang="ja-JP" sz="1400" baseline="-250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E713411-D195-01D3-9F4C-A97D286D1C97}"/>
              </a:ext>
            </a:extLst>
          </p:cNvPr>
          <p:cNvSpPr/>
          <p:nvPr/>
        </p:nvSpPr>
        <p:spPr>
          <a:xfrm>
            <a:off x="5367088" y="2730108"/>
            <a:ext cx="928218" cy="339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73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2DBF-ECD3-E0BA-2B75-9B0CA82B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577A79A-D419-2CCC-49CE-13C6F1FDD79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</a:t>
            </a:r>
            <a:r>
              <a:rPr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ayer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3E54F93-D7E0-6135-AF22-D00A245288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6" b="5278"/>
          <a:stretch>
            <a:fillRect/>
          </a:stretch>
        </p:blipFill>
        <p:spPr bwMode="auto">
          <a:xfrm>
            <a:off x="504825" y="1261766"/>
            <a:ext cx="5791200" cy="412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406A6F-DEB7-FF92-64C6-2F22A47B8D50}"/>
              </a:ext>
            </a:extLst>
          </p:cNvPr>
          <p:cNvSpPr/>
          <p:nvPr/>
        </p:nvSpPr>
        <p:spPr>
          <a:xfrm>
            <a:off x="1114425" y="3629025"/>
            <a:ext cx="4572000" cy="70485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010D7-C5EE-F029-FB96-8F1849D8FA32}"/>
              </a:ext>
            </a:extLst>
          </p:cNvPr>
          <p:cNvSpPr txBox="1"/>
          <p:nvPr/>
        </p:nvSpPr>
        <p:spPr>
          <a:xfrm>
            <a:off x="6810469" y="3780651"/>
            <a:ext cx="53743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 Score calculations: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scores = Q @ K</a:t>
            </a:r>
            <a:r>
              <a:rPr lang="ja-JP" altLang="en-US" sz="16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</a:t>
            </a:r>
            <a:endParaRPr lang="en-US" altLang="ja-JP" sz="1600" baseline="30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scaled_scores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scores / sqrt(</a:t>
            </a:r>
            <a:r>
              <a:rPr lang="en-US" altLang="ja-JP" sz="16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d_k</a:t>
            </a:r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endParaRPr lang="en-US" altLang="ja-JP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where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d_k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is the dimension of the keys.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F46C76-99E0-87A4-4C92-3379E3469B60}"/>
              </a:ext>
            </a:extLst>
          </p:cNvPr>
          <p:cNvCxnSpPr>
            <a:cxnSpLocks/>
          </p:cNvCxnSpPr>
          <p:nvPr/>
        </p:nvCxnSpPr>
        <p:spPr>
          <a:xfrm flipV="1">
            <a:off x="419100" y="1343025"/>
            <a:ext cx="0" cy="39433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FE7C2D-FC3A-5CDE-4B3C-C78486A1380C}"/>
              </a:ext>
            </a:extLst>
          </p:cNvPr>
          <p:cNvSpPr txBox="1"/>
          <p:nvPr/>
        </p:nvSpPr>
        <p:spPr>
          <a:xfrm>
            <a:off x="6750463" y="2676525"/>
            <a:ext cx="5441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 Finding weights (using </a:t>
            </a:r>
            <a:r>
              <a:rPr lang="en-US" altLang="ja-JP" sz="1600" b="1" dirty="0" err="1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softmax</a:t>
            </a:r>
            <a:r>
              <a:rPr lang="en-US" altLang="ja-JP" sz="16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function):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Turn the scores 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probabilities (weights that sum to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attention_weights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=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softmax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scaled_scores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F74DE-4453-E623-14D6-ACD566DAAFDB}"/>
              </a:ext>
            </a:extLst>
          </p:cNvPr>
          <p:cNvSpPr/>
          <p:nvPr/>
        </p:nvSpPr>
        <p:spPr>
          <a:xfrm>
            <a:off x="1114425" y="2724150"/>
            <a:ext cx="4572000" cy="704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6719F-5B2C-AF60-D151-A98C1AA56B3F}"/>
              </a:ext>
            </a:extLst>
          </p:cNvPr>
          <p:cNvSpPr txBox="1"/>
          <p:nvPr/>
        </p:nvSpPr>
        <p:spPr>
          <a:xfrm>
            <a:off x="6750463" y="1444050"/>
            <a:ext cx="5441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accent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(3) Weighted sum: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 = </a:t>
            </a:r>
            <a:r>
              <a:rPr lang="en-US" altLang="ja-JP" sz="1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attention_weights</a:t>
            </a:r>
            <a:r>
              <a:rPr lang="en-US" altLang="ja-JP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 @ V</a:t>
            </a:r>
            <a:endParaRPr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2B7C8-2EDD-7DF6-571A-FBAEE0FE9839}"/>
              </a:ext>
            </a:extLst>
          </p:cNvPr>
          <p:cNvSpPr/>
          <p:nvPr/>
        </p:nvSpPr>
        <p:spPr>
          <a:xfrm>
            <a:off x="1114425" y="1261766"/>
            <a:ext cx="4572000" cy="13110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22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5A6E-B752-9153-E164-2B06096A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88E570DD-542C-529E-8C52-2CF81DC1CFC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Attention Layer – Multi-Head Attention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F701D8-D1F3-6186-1EDB-7C4E77900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1261112"/>
            <a:ext cx="6285506" cy="344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A23F96-586D-707D-D954-B9A0343F7552}"/>
              </a:ext>
            </a:extLst>
          </p:cNvPr>
          <p:cNvSpPr txBox="1"/>
          <p:nvPr/>
        </p:nvSpPr>
        <p:spPr>
          <a:xfrm>
            <a:off x="153095" y="1543705"/>
            <a:ext cx="6190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multiple attentions to reduce the load on one attention to find all significant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Increase the chances of funding relevant words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attention block is trained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parallel and independent of one another.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262EA-6B35-7A3D-6A48-595F3996B222}"/>
              </a:ext>
            </a:extLst>
          </p:cNvPr>
          <p:cNvSpPr txBox="1"/>
          <p:nvPr/>
        </p:nvSpPr>
        <p:spPr>
          <a:xfrm>
            <a:off x="153094" y="2776150"/>
            <a:ext cx="59429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d_model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512 (dim of input embeddings)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num_heads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8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Each head will operate in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d_k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=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d_model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/ </a:t>
            </a: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num_heads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 = 64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For 8 heads operating in parallel, 8 different 64-dimensional outputs/token is given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Con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catenate the outputs: 8 x 64 = 512</a:t>
            </a: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1204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14FB-D859-56E5-1202-40ACD9E1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2223267E-362D-88C1-22E5-45402D8E796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Architecture: Masked attention layer (decoder)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8C9F97-6D3E-CC6A-C0B1-686B80852AF0}"/>
              </a:ext>
            </a:extLst>
          </p:cNvPr>
          <p:cNvSpPr txBox="1"/>
          <p:nvPr/>
        </p:nvSpPr>
        <p:spPr>
          <a:xfrm>
            <a:off x="200025" y="512950"/>
            <a:ext cx="116776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1️⃣ Masked Self-Attention (first layer in decoder):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token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can attend only to previous tokens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including itself. </a:t>
            </a:r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cannot see future tokens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It’s masked so the model doesn’t cheat during training by peeking at tokens it hasn’t generated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 Generating “I like dogs”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0: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&gt;"]</a:t>
            </a: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1: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&gt;", "I"]</a:t>
            </a: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step 2:  can see ["&lt;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sos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&gt;", "I", "like"]</a:t>
            </a:r>
          </a:p>
          <a:p>
            <a:endParaRPr kumimoji="1" lang="en-US" altLang="ja-JP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Done with a </a:t>
            </a:r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triangular causal mask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F1C85-E410-9362-6094-CB8A7F644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5" t="10217"/>
          <a:stretch>
            <a:fillRect/>
          </a:stretch>
        </p:blipFill>
        <p:spPr>
          <a:xfrm>
            <a:off x="5826092" y="1960101"/>
            <a:ext cx="4751586" cy="885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A85D76-7F94-8279-B024-F7517B6BF36E}"/>
              </a:ext>
            </a:extLst>
          </p:cNvPr>
          <p:cNvSpPr txBox="1"/>
          <p:nvPr/>
        </p:nvSpPr>
        <p:spPr>
          <a:xfrm>
            <a:off x="5735604" y="1620177"/>
            <a:ext cx="6456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(1) 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https://github.com/SamLynnEvans/Transformer/blob/master/Batch.py#L12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AD4053-71A0-3FC1-3CB0-0271C028E2D2}"/>
              </a:ext>
            </a:extLst>
          </p:cNvPr>
          <p:cNvSpPr txBox="1"/>
          <p:nvPr/>
        </p:nvSpPr>
        <p:spPr>
          <a:xfrm>
            <a:off x="5735605" y="1322915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Masking examples:</a:t>
            </a:r>
            <a:endParaRPr kumimoji="1" lang="ja-JP" altLang="en-US" sz="1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C3EC7B-DD57-0722-8177-702FEF3AA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70" y="3444509"/>
            <a:ext cx="5050456" cy="32105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5AB6BB-C937-71A7-90E1-624C1D8512DA}"/>
              </a:ext>
            </a:extLst>
          </p:cNvPr>
          <p:cNvSpPr txBox="1"/>
          <p:nvPr/>
        </p:nvSpPr>
        <p:spPr>
          <a:xfrm>
            <a:off x="5758718" y="2892942"/>
            <a:ext cx="6433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(2) </a:t>
            </a:r>
            <a:r>
              <a:rPr lang="en-US" altLang="ja-JP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https://github.com/Huffon/pytorch-transformer-kor-eng/blob/93eea77b9562941813856f117aad7b2e4d3c01e8/model/ops.py#L26</a:t>
            </a:r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9ECA8B-1196-05E9-6E01-0C8AF304CB4C}"/>
              </a:ext>
            </a:extLst>
          </p:cNvPr>
          <p:cNvSpPr txBox="1"/>
          <p:nvPr/>
        </p:nvSpPr>
        <p:spPr>
          <a:xfrm>
            <a:off x="199074" y="3493162"/>
            <a:ext cx="4930139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Decoder Block:</a:t>
            </a:r>
          </a:p>
          <a:p>
            <a:endParaRPr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Input (previous target tokens)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Masked Self-Attention  ← only looks at past tokens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Cross-Attention (encoder-decoder)  ← looks at full encoder output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Feed-Forward Network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   ↓</a:t>
            </a:r>
          </a:p>
          <a:p>
            <a:r>
              <a:rPr lang="ja-JP" altLang="en-U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2817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D18C-81D0-2FB5-016E-B45EBB18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4644A2-3B2C-A013-12E6-8F28E0E5F9F6}"/>
              </a:ext>
            </a:extLst>
          </p:cNvPr>
          <p:cNvCxnSpPr>
            <a:cxnSpLocks/>
          </p:cNvCxnSpPr>
          <p:nvPr/>
        </p:nvCxnSpPr>
        <p:spPr>
          <a:xfrm>
            <a:off x="781050" y="1619250"/>
            <a:ext cx="107918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4122E3-9601-24CA-702D-F50573AFD82A}"/>
              </a:ext>
            </a:extLst>
          </p:cNvPr>
          <p:cNvSpPr txBox="1"/>
          <p:nvPr/>
        </p:nvSpPr>
        <p:spPr>
          <a:xfrm>
            <a:off x="419101" y="1028700"/>
            <a:ext cx="2562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Tokenization &amp; Vocab (spacy)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02DCC-542F-E20E-7006-187A55E35D2E}"/>
              </a:ext>
            </a:extLst>
          </p:cNvPr>
          <p:cNvSpPr txBox="1"/>
          <p:nvPr/>
        </p:nvSpPr>
        <p:spPr>
          <a:xfrm>
            <a:off x="2333626" y="1914525"/>
            <a:ext cx="2047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Positional Encoding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83B9C-3B8B-C4D8-D6D1-907F1B1050AB}"/>
              </a:ext>
            </a:extLst>
          </p:cNvPr>
          <p:cNvSpPr txBox="1"/>
          <p:nvPr/>
        </p:nvSpPr>
        <p:spPr>
          <a:xfrm>
            <a:off x="3943351" y="1028700"/>
            <a:ext cx="2219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Multi-Head Attention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493D3-4ACD-F4E7-5608-9B519EF31071}"/>
              </a:ext>
            </a:extLst>
          </p:cNvPr>
          <p:cNvSpPr txBox="1"/>
          <p:nvPr/>
        </p:nvSpPr>
        <p:spPr>
          <a:xfrm>
            <a:off x="6019801" y="1997245"/>
            <a:ext cx="2219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Feedforward Layer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33010A-2DDC-88CD-36AB-EC9ABF0EFA55}"/>
              </a:ext>
            </a:extLst>
          </p:cNvPr>
          <p:cNvSpPr txBox="1"/>
          <p:nvPr/>
        </p:nvSpPr>
        <p:spPr>
          <a:xfrm>
            <a:off x="7734301" y="1028700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205168-6601-608C-92EF-168FF8773EF1}"/>
              </a:ext>
            </a:extLst>
          </p:cNvPr>
          <p:cNvSpPr txBox="1"/>
          <p:nvPr/>
        </p:nvSpPr>
        <p:spPr>
          <a:xfrm>
            <a:off x="9239251" y="1997245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Decoder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DA2A62-9C9C-3D24-FFE3-F780B4ADBA14}"/>
              </a:ext>
            </a:extLst>
          </p:cNvPr>
          <p:cNvSpPr txBox="1"/>
          <p:nvPr/>
        </p:nvSpPr>
        <p:spPr>
          <a:xfrm>
            <a:off x="10344151" y="1028700"/>
            <a:ext cx="100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train.py</a:t>
            </a:r>
            <a:endParaRPr kumimoji="1" lang="ja-JP" alt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05ED12-8482-6273-1AAF-38BF7849D14C}"/>
              </a:ext>
            </a:extLst>
          </p:cNvPr>
          <p:cNvCxnSpPr/>
          <p:nvPr/>
        </p:nvCxnSpPr>
        <p:spPr>
          <a:xfrm flipV="1">
            <a:off x="1476376" y="1438275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8B4EB7-6B04-8783-0076-ACFF893072F5}"/>
              </a:ext>
            </a:extLst>
          </p:cNvPr>
          <p:cNvCxnSpPr>
            <a:cxnSpLocks/>
          </p:cNvCxnSpPr>
          <p:nvPr/>
        </p:nvCxnSpPr>
        <p:spPr>
          <a:xfrm>
            <a:off x="3248026" y="1495425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62F1C1A-2F4E-7BAD-5A41-57ECE7389C30}"/>
              </a:ext>
            </a:extLst>
          </p:cNvPr>
          <p:cNvCxnSpPr>
            <a:cxnSpLocks/>
          </p:cNvCxnSpPr>
          <p:nvPr/>
        </p:nvCxnSpPr>
        <p:spPr>
          <a:xfrm>
            <a:off x="6800851" y="1514475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318441-4C8E-FE1B-428B-36A06BFA4A1F}"/>
              </a:ext>
            </a:extLst>
          </p:cNvPr>
          <p:cNvCxnSpPr/>
          <p:nvPr/>
        </p:nvCxnSpPr>
        <p:spPr>
          <a:xfrm flipV="1">
            <a:off x="5053013" y="1462087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001BE7-31F8-EE76-6DB1-48C793B83AED}"/>
              </a:ext>
            </a:extLst>
          </p:cNvPr>
          <p:cNvCxnSpPr/>
          <p:nvPr/>
        </p:nvCxnSpPr>
        <p:spPr>
          <a:xfrm flipV="1">
            <a:off x="8291513" y="1462087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6A4116-CB9E-DF78-CA85-E812A9DC8122}"/>
              </a:ext>
            </a:extLst>
          </p:cNvPr>
          <p:cNvCxnSpPr/>
          <p:nvPr/>
        </p:nvCxnSpPr>
        <p:spPr>
          <a:xfrm flipV="1">
            <a:off x="10896601" y="1438274"/>
            <a:ext cx="0" cy="31432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D173BC-8FE7-5D7E-7FF7-F87ADC6ED572}"/>
              </a:ext>
            </a:extLst>
          </p:cNvPr>
          <p:cNvCxnSpPr>
            <a:cxnSpLocks/>
          </p:cNvCxnSpPr>
          <p:nvPr/>
        </p:nvCxnSpPr>
        <p:spPr>
          <a:xfrm>
            <a:off x="9610726" y="1462087"/>
            <a:ext cx="0" cy="32234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9A2034-0E26-A4CA-4E8B-F6A8D8BADA14}"/>
              </a:ext>
            </a:extLst>
          </p:cNvPr>
          <p:cNvSpPr txBox="1"/>
          <p:nvPr/>
        </p:nvSpPr>
        <p:spPr>
          <a:xfrm>
            <a:off x="609600" y="3448050"/>
            <a:ext cx="6945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Refs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https://github.com/SamLynnEvans/Transformer</a:t>
            </a:r>
            <a:endParaRPr lang="en-US" altLang="ja-JP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ja-JP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https://github.com/Huffon/pytorch-transformer-kor-eng/tree/master</a:t>
            </a:r>
            <a:endParaRPr kumimoji="1" lang="ja-JP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19EF0-8B75-A185-122F-FBBE7D85833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Plan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02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C06DC-D4AA-71B9-575A-76FF8703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6F2275A-6C35-597B-7EB2-1190212BE88A}"/>
              </a:ext>
            </a:extLst>
          </p:cNvPr>
          <p:cNvSpPr/>
          <p:nvPr/>
        </p:nvSpPr>
        <p:spPr>
          <a:xfrm>
            <a:off x="8015814" y="2971801"/>
            <a:ext cx="3004612" cy="181927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EA86C-84A4-F0F0-9C3A-0272410627F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Tokenizer (</a:t>
            </a:r>
            <a:r>
              <a:rPr kumimoji="1" lang="en-US" altLang="ja-JP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konlpy</a:t>
            </a:r>
            <a:r>
              <a:rPr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+ spacy) 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Recommended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EE7C08-9188-9563-2BDE-47B9092BDB57}"/>
              </a:ext>
            </a:extLst>
          </p:cNvPr>
          <p:cNvSpPr/>
          <p:nvPr/>
        </p:nvSpPr>
        <p:spPr>
          <a:xfrm>
            <a:off x="177194" y="1333720"/>
            <a:ext cx="1847850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Load data from csv file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F0D22B-474B-3472-786C-0F0A3F1AE3AB}"/>
              </a:ext>
            </a:extLst>
          </p:cNvPr>
          <p:cNvSpPr/>
          <p:nvPr/>
        </p:nvSpPr>
        <p:spPr>
          <a:xfrm>
            <a:off x="3210906" y="1333720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vocab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71421B-4023-FBD1-DA43-BBBFAC9438F8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025044" y="1748058"/>
            <a:ext cx="118586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946CF7-28C9-C5B3-F589-A6C3DF9F52E7}"/>
              </a:ext>
            </a:extLst>
          </p:cNvPr>
          <p:cNvSpPr txBox="1"/>
          <p:nvPr/>
        </p:nvSpPr>
        <p:spPr>
          <a:xfrm>
            <a:off x="2048011" y="1387001"/>
            <a:ext cx="138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pd.DataFrame</a:t>
            </a:r>
            <a:endParaRPr kumimoji="1" lang="ja-JP" alt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6D20CB-96B7-AE7E-08DA-46BACB070197}"/>
              </a:ext>
            </a:extLst>
          </p:cNvPr>
          <p:cNvSpPr/>
          <p:nvPr/>
        </p:nvSpPr>
        <p:spPr>
          <a:xfrm>
            <a:off x="3686175" y="3143251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</a:t>
            </a:r>
            <a:endParaRPr kumimoji="1" lang="ja-JP" alt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3FD211-9997-ADA5-0D97-B5E9CA63719E}"/>
              </a:ext>
            </a:extLst>
          </p:cNvPr>
          <p:cNvSpPr/>
          <p:nvPr/>
        </p:nvSpPr>
        <p:spPr>
          <a:xfrm>
            <a:off x="3686175" y="3714751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like</a:t>
            </a:r>
            <a:endParaRPr kumimoji="1" lang="ja-JP" alt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49EA64-BB94-0251-9C49-D21B978DA844}"/>
              </a:ext>
            </a:extLst>
          </p:cNvPr>
          <p:cNvSpPr/>
          <p:nvPr/>
        </p:nvSpPr>
        <p:spPr>
          <a:xfrm>
            <a:off x="3686175" y="4314826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travelling</a:t>
            </a:r>
            <a:endParaRPr kumimoji="1" lang="ja-JP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8EECC7-73B8-7057-AC43-E25D337B370B}"/>
              </a:ext>
            </a:extLst>
          </p:cNvPr>
          <p:cNvSpPr txBox="1"/>
          <p:nvPr/>
        </p:nvSpPr>
        <p:spPr>
          <a:xfrm>
            <a:off x="223375" y="3881439"/>
            <a:ext cx="15648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I like travelling</a:t>
            </a:r>
            <a:endParaRPr kumimoji="1" lang="ja-JP" altLang="en-US" sz="1600" dirty="0"/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3A79A388-B9C1-6782-2C0F-4A5127C488C2}"/>
              </a:ext>
            </a:extLst>
          </p:cNvPr>
          <p:cNvSpPr/>
          <p:nvPr/>
        </p:nvSpPr>
        <p:spPr>
          <a:xfrm rot="16200000">
            <a:off x="2205084" y="3713859"/>
            <a:ext cx="1348859" cy="588643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tokenizer</a:t>
            </a:r>
            <a:endParaRPr kumimoji="1" lang="ja-JP" alt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128F7E-2ADB-7032-55EA-5D261927412B}"/>
              </a:ext>
            </a:extLst>
          </p:cNvPr>
          <p:cNvSpPr/>
          <p:nvPr/>
        </p:nvSpPr>
        <p:spPr>
          <a:xfrm>
            <a:off x="5739552" y="3393491"/>
            <a:ext cx="1409700" cy="10953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Build Vocab</a:t>
            </a:r>
            <a:endParaRPr kumimoji="1" lang="ja-JP" altLang="en-US" sz="1600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A20A2A1-AC22-65B9-7C1B-42507F24D9A5}"/>
              </a:ext>
            </a:extLst>
          </p:cNvPr>
          <p:cNvSpPr/>
          <p:nvPr/>
        </p:nvSpPr>
        <p:spPr>
          <a:xfrm>
            <a:off x="1828232" y="3881439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0FB834A-9CBA-8848-C021-EE58BF58F44E}"/>
              </a:ext>
            </a:extLst>
          </p:cNvPr>
          <p:cNvSpPr/>
          <p:nvPr/>
        </p:nvSpPr>
        <p:spPr>
          <a:xfrm>
            <a:off x="4980516" y="3764965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D2C3F9-4388-B94A-9AA0-FFF5654F4D1A}"/>
              </a:ext>
            </a:extLst>
          </p:cNvPr>
          <p:cNvSpPr/>
          <p:nvPr/>
        </p:nvSpPr>
        <p:spPr>
          <a:xfrm>
            <a:off x="9825605" y="31217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0</a:t>
            </a:r>
            <a:endParaRPr kumimoji="1" lang="ja-JP" alt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7F68F7-A3C4-5C66-4752-AA55675ACDF4}"/>
              </a:ext>
            </a:extLst>
          </p:cNvPr>
          <p:cNvSpPr/>
          <p:nvPr/>
        </p:nvSpPr>
        <p:spPr>
          <a:xfrm>
            <a:off x="9825605" y="36932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14</a:t>
            </a:r>
            <a:endParaRPr kumimoji="1" lang="ja-JP" alt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BF57AD-A507-A4C3-713B-00AB1A2B2949}"/>
              </a:ext>
            </a:extLst>
          </p:cNvPr>
          <p:cNvSpPr/>
          <p:nvPr/>
        </p:nvSpPr>
        <p:spPr>
          <a:xfrm>
            <a:off x="9825605" y="4293309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22</a:t>
            </a:r>
            <a:endParaRPr kumimoji="1" lang="ja-JP" altLang="en-US" sz="140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FBE8E6A-91BC-69BE-15C6-E1926E9165E8}"/>
              </a:ext>
            </a:extLst>
          </p:cNvPr>
          <p:cNvSpPr/>
          <p:nvPr/>
        </p:nvSpPr>
        <p:spPr>
          <a:xfrm>
            <a:off x="7288210" y="3774490"/>
            <a:ext cx="588645" cy="28575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/>
          </a:p>
        </p:txBody>
      </p: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BE16D3EE-A0BD-B9B7-EB32-28B742748A24}"/>
              </a:ext>
            </a:extLst>
          </p:cNvPr>
          <p:cNvSpPr/>
          <p:nvPr/>
        </p:nvSpPr>
        <p:spPr>
          <a:xfrm>
            <a:off x="1258744" y="5085757"/>
            <a:ext cx="2364673" cy="612648"/>
          </a:xfrm>
          <a:prstGeom prst="wedgeRoundRectCallout">
            <a:avLst>
              <a:gd name="adj1" fmla="val 53111"/>
              <a:gd name="adj2" fmla="val -1069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Separate sentence into meaningful chunks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7DC02E21-91C2-E6D4-1633-ED5F544EFF93}"/>
              </a:ext>
            </a:extLst>
          </p:cNvPr>
          <p:cNvSpPr/>
          <p:nvPr/>
        </p:nvSpPr>
        <p:spPr>
          <a:xfrm>
            <a:off x="5886450" y="5026733"/>
            <a:ext cx="1810986" cy="612648"/>
          </a:xfrm>
          <a:prstGeom prst="wedgeRoundRectCallout">
            <a:avLst>
              <a:gd name="adj1" fmla="val 53111"/>
              <a:gd name="adj2" fmla="val -1069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numericize words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9BD6B7-12D4-CEC1-9201-F21314002E87}"/>
              </a:ext>
            </a:extLst>
          </p:cNvPr>
          <p:cNvSpPr/>
          <p:nvPr/>
        </p:nvSpPr>
        <p:spPr>
          <a:xfrm>
            <a:off x="8205254" y="31217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</a:t>
            </a:r>
            <a:endParaRPr kumimoji="1" lang="ja-JP" altLang="en-US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DEC7CB-64EB-4CEA-F6CA-E152F69FB4B2}"/>
              </a:ext>
            </a:extLst>
          </p:cNvPr>
          <p:cNvSpPr/>
          <p:nvPr/>
        </p:nvSpPr>
        <p:spPr>
          <a:xfrm>
            <a:off x="8205254" y="3693234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like</a:t>
            </a:r>
            <a:endParaRPr kumimoji="1" lang="ja-JP" altLang="en-US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3651CC-CB68-474A-A19E-ABE043286E24}"/>
              </a:ext>
            </a:extLst>
          </p:cNvPr>
          <p:cNvSpPr/>
          <p:nvPr/>
        </p:nvSpPr>
        <p:spPr>
          <a:xfrm>
            <a:off x="8205254" y="4293309"/>
            <a:ext cx="1076325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travelling</a:t>
            </a:r>
            <a:endParaRPr kumimoji="1" lang="ja-JP" altLang="en-US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B666DB-DDD8-9371-A82D-1BE07DFB1F6C}"/>
              </a:ext>
            </a:extLst>
          </p:cNvPr>
          <p:cNvSpPr/>
          <p:nvPr/>
        </p:nvSpPr>
        <p:spPr>
          <a:xfrm>
            <a:off x="6254762" y="1327429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</a:t>
            </a:r>
            <a:r>
              <a:rPr kumimoji="1" lang="en-US" altLang="ja-JP" sz="1600" dirty="0" err="1">
                <a:solidFill>
                  <a:schemeClr val="tx1"/>
                </a:solidFill>
              </a:rPr>
              <a:t>DataSet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9F9EAB-752B-C864-C5C4-3195DDF0C2A6}"/>
              </a:ext>
            </a:extLst>
          </p:cNvPr>
          <p:cNvCxnSpPr>
            <a:cxnSpLocks/>
            <a:stCxn id="3" idx="3"/>
            <a:endCxn id="44" idx="1"/>
          </p:cNvCxnSpPr>
          <p:nvPr/>
        </p:nvCxnSpPr>
        <p:spPr>
          <a:xfrm flipV="1">
            <a:off x="5239731" y="1741767"/>
            <a:ext cx="1015031" cy="62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828F4DC-D11C-105F-D806-63C7E9E81AB6}"/>
              </a:ext>
            </a:extLst>
          </p:cNvPr>
          <p:cNvSpPr txBox="1"/>
          <p:nvPr/>
        </p:nvSpPr>
        <p:spPr>
          <a:xfrm>
            <a:off x="5346978" y="1360988"/>
            <a:ext cx="838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/>
              <a:t>Vocab</a:t>
            </a:r>
            <a:endParaRPr kumimoji="1" lang="ja-JP" altLang="en-US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F4214D-B040-92DA-77F0-45CA482E7EC4}"/>
              </a:ext>
            </a:extLst>
          </p:cNvPr>
          <p:cNvSpPr/>
          <p:nvPr/>
        </p:nvSpPr>
        <p:spPr>
          <a:xfrm>
            <a:off x="9787153" y="1320940"/>
            <a:ext cx="2028825" cy="828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Build </a:t>
            </a:r>
            <a:r>
              <a:rPr kumimoji="1" lang="en-US" altLang="ja-JP" sz="1600" dirty="0" err="1">
                <a:solidFill>
                  <a:schemeClr val="tx1"/>
                </a:solidFill>
              </a:rPr>
              <a:t>DataLoader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E4AC868-B461-2B77-B943-500CED0F8911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>
          <a:xfrm flipV="1">
            <a:off x="8283587" y="1735278"/>
            <a:ext cx="1503566" cy="64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9F1B5E-FB5F-5D45-F89B-8DC00E129DAB}"/>
              </a:ext>
            </a:extLst>
          </p:cNvPr>
          <p:cNvSpPr txBox="1"/>
          <p:nvPr/>
        </p:nvSpPr>
        <p:spPr>
          <a:xfrm>
            <a:off x="8245135" y="1355006"/>
            <a:ext cx="154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 err="1"/>
              <a:t>torch.Dataset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6239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7A993A-7301-28D9-433F-B9F89EC9F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46" y="746948"/>
            <a:ext cx="5301080" cy="2713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7E18DB-1A12-67E2-3447-3C78978868BA}"/>
              </a:ext>
            </a:extLst>
          </p:cNvPr>
          <p:cNvSpPr/>
          <p:nvPr/>
        </p:nvSpPr>
        <p:spPr>
          <a:xfrm>
            <a:off x="1466850" y="2171149"/>
            <a:ext cx="952500" cy="238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16B96-74A4-F7AD-6A7B-CDACD6846F1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Tokenizer (</a:t>
            </a:r>
            <a:r>
              <a:rPr kumimoji="1" lang="en-US" altLang="ja-JP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soynlp</a:t>
            </a:r>
            <a:r>
              <a:rPr kumimoji="1" lang="en-US" altLang="ja-JP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kumimoji="1" lang="ja-JP" altLang="en-US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89EBA0E-73D0-718C-9A69-2C418C71BE38}"/>
              </a:ext>
            </a:extLst>
          </p:cNvPr>
          <p:cNvSpPr/>
          <p:nvPr/>
        </p:nvSpPr>
        <p:spPr>
          <a:xfrm>
            <a:off x="133349" y="2905951"/>
            <a:ext cx="2000251" cy="612648"/>
          </a:xfrm>
          <a:prstGeom prst="wedgeRoundRectCallout">
            <a:avLst>
              <a:gd name="adj1" fmla="val 29132"/>
              <a:gd name="adj2" fmla="val -1054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Dict</a:t>
            </a: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(word): Scores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C4C106-4A55-9EEF-DE18-52C7953C6878}"/>
              </a:ext>
            </a:extLst>
          </p:cNvPr>
          <p:cNvSpPr txBox="1"/>
          <p:nvPr/>
        </p:nvSpPr>
        <p:spPr>
          <a:xfrm>
            <a:off x="6096000" y="485338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WordExtractor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Extracts meaningful words from a sentence </a:t>
            </a:r>
            <a:r>
              <a:rPr kumimoji="1"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Wingdings" panose="05000000000000000000" pitchFamily="2" charset="2"/>
              </a:rPr>
              <a:t> Builds the Lexicon.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Uses the lexicon to split sentences.</a:t>
            </a:r>
            <a:endParaRPr kumimoji="1" lang="ja-JP" alt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AF4CC08-9361-DC4A-68BF-8019995AFF09}"/>
              </a:ext>
            </a:extLst>
          </p:cNvPr>
          <p:cNvSpPr/>
          <p:nvPr/>
        </p:nvSpPr>
        <p:spPr>
          <a:xfrm>
            <a:off x="5038726" y="1497899"/>
            <a:ext cx="3310352" cy="1094824"/>
          </a:xfrm>
          <a:prstGeom prst="wedgeRoundRectCallout">
            <a:avLst>
              <a:gd name="adj1" fmla="val -53179"/>
              <a:gd name="adj2" fmla="val 2858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Measures how tightly  the characters in the word sticks together (left to right). High value means it’s likely an actual 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61C50-A868-1A6D-EF3F-74344EC58D47}"/>
              </a:ext>
            </a:extLst>
          </p:cNvPr>
          <p:cNvSpPr/>
          <p:nvPr/>
        </p:nvSpPr>
        <p:spPr>
          <a:xfrm>
            <a:off x="3690523" y="2400300"/>
            <a:ext cx="1214852" cy="192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888C51-9AD5-AE3B-D8B4-052DC010A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46" y="3957499"/>
            <a:ext cx="5365292" cy="28052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2A2527-F68A-AE69-663A-770EEB86F8AE}"/>
              </a:ext>
            </a:extLst>
          </p:cNvPr>
          <p:cNvSpPr txBox="1"/>
          <p:nvPr/>
        </p:nvSpPr>
        <p:spPr>
          <a:xfrm>
            <a:off x="285750" y="396736"/>
            <a:ext cx="153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WordExtractor</a:t>
            </a:r>
            <a:endParaRPr kumimoji="1" lang="ja-JP" altLang="en-US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EE32D7-2A7C-6B4C-9CB2-CAA6FB09E243}"/>
              </a:ext>
            </a:extLst>
          </p:cNvPr>
          <p:cNvSpPr txBox="1"/>
          <p:nvPr/>
        </p:nvSpPr>
        <p:spPr>
          <a:xfrm>
            <a:off x="406974" y="3588167"/>
            <a:ext cx="103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Tokenizer</a:t>
            </a:r>
            <a:endParaRPr kumimoji="1" lang="ja-JP" altLang="en-US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DF6BD9-3EE8-8C8E-F22E-A67FD4FFBC81}"/>
              </a:ext>
            </a:extLst>
          </p:cNvPr>
          <p:cNvSpPr/>
          <p:nvPr/>
        </p:nvSpPr>
        <p:spPr>
          <a:xfrm>
            <a:off x="2133600" y="6524625"/>
            <a:ext cx="2628900" cy="2380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7C2F2E37-1858-D29B-D997-75364714D0D6}"/>
              </a:ext>
            </a:extLst>
          </p:cNvPr>
          <p:cNvSpPr/>
          <p:nvPr/>
        </p:nvSpPr>
        <p:spPr>
          <a:xfrm>
            <a:off x="5833648" y="5362023"/>
            <a:ext cx="3310352" cy="1094824"/>
          </a:xfrm>
          <a:prstGeom prst="wedgeRoundRectCallout">
            <a:avLst>
              <a:gd name="adj1" fmla="val -78500"/>
              <a:gd name="adj2" fmla="val 6077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LTokenizer</a:t>
            </a: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stands for Left tokenizer: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 + [R] → Left part (main word) + Right part (optional particle or suffix)</a:t>
            </a:r>
            <a:r>
              <a:rPr lang="en-US" altLang="ja-JP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E.g.: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학생이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→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학생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(L) + "</a:t>
            </a:r>
            <a:r>
              <a:rPr kumimoji="1" lang="ko-KR" altLang="en-US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이</a:t>
            </a:r>
            <a:r>
              <a:rPr kumimoji="1" lang="en-US" altLang="ko-KR" sz="1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(R)</a:t>
            </a:r>
            <a:endParaRPr kumimoji="1" lang="en-US" altLang="ja-JP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35EB0E-BB04-F549-DCF4-2D95208E0703}"/>
              </a:ext>
            </a:extLst>
          </p:cNvPr>
          <p:cNvSpPr txBox="1"/>
          <p:nvPr/>
        </p:nvSpPr>
        <p:spPr>
          <a:xfrm>
            <a:off x="6315074" y="3731320"/>
            <a:ext cx="360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Possible to use </a:t>
            </a:r>
            <a:r>
              <a:rPr lang="en-US" altLang="ja-JP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4"/>
              </a:rPr>
              <a:t>spaCy</a:t>
            </a:r>
            <a:r>
              <a:rPr lang="en-US" altLang="ja-JP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English &amp; Korean</a:t>
            </a:r>
          </a:p>
        </p:txBody>
      </p:sp>
    </p:spTree>
    <p:extLst>
      <p:ext uri="{BB962C8B-B14F-4D97-AF65-F5344CB8AC3E}">
        <p14:creationId xmlns:p14="http://schemas.microsoft.com/office/powerpoint/2010/main" val="345949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1349</Words>
  <Application>Microsoft Office PowerPoint</Application>
  <PresentationFormat>Widescreen</PresentationFormat>
  <Paragraphs>146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游ゴシック</vt:lpstr>
      <vt:lpstr>游ゴシック Light</vt:lpstr>
      <vt:lpstr>Arial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Lê</dc:creator>
  <cp:lastModifiedBy>Minh Lê</cp:lastModifiedBy>
  <cp:revision>22</cp:revision>
  <dcterms:created xsi:type="dcterms:W3CDTF">2025-05-26T09:19:39Z</dcterms:created>
  <dcterms:modified xsi:type="dcterms:W3CDTF">2025-06-20T10:36:50Z</dcterms:modified>
</cp:coreProperties>
</file>